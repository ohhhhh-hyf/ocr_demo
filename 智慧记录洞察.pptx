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6" r:id="rId2"/>
    <p:sldMasterId id="2147483668" r:id="rId3"/>
  </p:sldMasterIdLst>
  <p:notesMasterIdLst>
    <p:notesMasterId r:id="rId12"/>
  </p:notesMasterIdLst>
  <p:sldIdLst>
    <p:sldId id="2147483601" r:id="rId4"/>
    <p:sldId id="2147483602" r:id="rId5"/>
    <p:sldId id="2147483603" r:id="rId6"/>
    <p:sldId id="2147483604" r:id="rId7"/>
    <p:sldId id="2147483605" r:id="rId8"/>
    <p:sldId id="2147483606" r:id="rId9"/>
    <p:sldId id="2147483607" r:id="rId10"/>
    <p:sldId id="214748360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F48"/>
    <a:srgbClr val="C00000"/>
    <a:srgbClr val="DDEAF7"/>
    <a:srgbClr val="5C9BD5"/>
    <a:srgbClr val="6CA5D9"/>
    <a:srgbClr val="DEEBF7"/>
    <a:srgbClr val="F5F8FE"/>
    <a:srgbClr val="343E46"/>
    <a:srgbClr val="6676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4" autoAdjust="0"/>
    <p:restoredTop sz="81629" autoAdjust="0"/>
  </p:normalViewPr>
  <p:slideViewPr>
    <p:cSldViewPr snapToGrid="0">
      <p:cViewPr varScale="1">
        <p:scale>
          <a:sx n="115" d="100"/>
          <a:sy n="115" d="100"/>
        </p:scale>
        <p:origin x="12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21F13-393F-4530-A220-B4DF84B54F2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A65F2-73BC-43AE-875B-67BAD6EFC3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474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BB28CB31-DFC9-2463-D9BC-D531668B5B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42194A87-0A65-96E8-CF02-300721BA64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1" lang="zh-CN" altLang="en-US"/>
          </a:p>
        </p:txBody>
      </p:sp>
      <p:sp>
        <p:nvSpPr>
          <p:cNvPr id="8196" name="幻灯片编号占位符 3">
            <a:extLst>
              <a:ext uri="{FF2B5EF4-FFF2-40B4-BE49-F238E27FC236}">
                <a16:creationId xmlns:a16="http://schemas.microsoft.com/office/drawing/2014/main" id="{438ECB87-9329-454F-C25F-EE33E5BC11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fld id="{65B70A1F-BC59-422A-884F-109BC85ECFB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722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A65F2-73BC-43AE-875B-67BAD6EFC3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17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202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984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产品：国内、国外、软件、硬件、特性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独立会议纪要软件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原有会议平台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+AI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918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0400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691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6507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36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3B55244-6AC2-9D1F-28C0-61ADD3394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92F917A-A1E6-7D26-C71E-F16BAA77D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b="23589"/>
          <a:stretch>
            <a:fillRect/>
          </a:stretch>
        </p:blipFill>
        <p:spPr bwMode="auto">
          <a:xfrm>
            <a:off x="1873250" y="0"/>
            <a:ext cx="10318750" cy="524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8079E17-4BC0-2D8A-61A7-DEDBF56ABF1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55138" y="5918200"/>
            <a:ext cx="2506662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>
              <a:defRPr/>
            </a:pPr>
            <a:r>
              <a:rPr lang="zh-CN" altLang="zh-CN" sz="110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B1D9BE-89B8-65D9-65F4-2FE087FED2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5722938"/>
            <a:ext cx="18462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6657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0C8C02C-DDDC-99ED-AB4D-80BC3DC5039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50925" y="6356350"/>
            <a:ext cx="2506663" cy="2619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>
              <a:defRPr/>
            </a:pPr>
            <a:r>
              <a:rPr lang="zh-CN" altLang="zh-CN" sz="1100" dirty="0">
                <a:latin typeface="Huawei Sans" panose="020C0503030203020204" pitchFamily="34" charset="0"/>
                <a:cs typeface="Huawei Sans" panose="020C0503030203020204" pitchFamily="34" charset="0"/>
              </a:rPr>
              <a:t>Security Level：Huawei Confidential</a:t>
            </a:r>
            <a:endParaRPr kumimoji="1" lang="zh-CN" altLang="en-US" sz="1100" dirty="0"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C126350-8598-1D6E-75E2-F0A35174CF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8938" y="6330950"/>
            <a:ext cx="12493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67CE97E-FDA5-4904-36B5-B971714BC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1350" y="6294438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rgbClr val="0D0D0D"/>
                </a:solidFill>
                <a:latin typeface="Huawei Sans" panose="020C0503030203020204" pitchFamily="34" charset="0"/>
                <a:cs typeface="Huawei Sans" panose="020C0503030203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EFC57CCE-4B21-46FA-8DF9-9AE80427FC2A}" type="slidenum">
              <a:rPr lang="zh-CN" altLang="en-US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59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1"/>
            <a:ext cx="12201373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0738" y="2130702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43760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2669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412655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7287" y="2370889"/>
            <a:ext cx="744262" cy="761910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035945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5"/>
            <a:ext cx="12192669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3057" y="2323659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90188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2669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6733" y="1657695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6654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488" indent="0" algn="ctr">
              <a:buNone/>
              <a:defRPr sz="2594"/>
            </a:lvl2pPr>
            <a:lvl3pPr marL="1186975" indent="0" algn="ctr">
              <a:buNone/>
              <a:defRPr sz="2334"/>
            </a:lvl3pPr>
            <a:lvl4pPr marL="1780463" indent="0" algn="ctr">
              <a:buNone/>
              <a:defRPr sz="2079"/>
            </a:lvl4pPr>
            <a:lvl5pPr marL="2373950" indent="0" algn="ctr">
              <a:buNone/>
              <a:defRPr sz="2079"/>
            </a:lvl5pPr>
            <a:lvl6pPr marL="2967438" indent="0" algn="ctr">
              <a:buNone/>
              <a:defRPr sz="2079"/>
            </a:lvl6pPr>
            <a:lvl7pPr marL="3560290" indent="0" algn="ctr">
              <a:buNone/>
              <a:defRPr sz="2079"/>
            </a:lvl7pPr>
            <a:lvl8pPr marL="4153778" indent="0" algn="ctr">
              <a:buNone/>
              <a:defRPr sz="2079"/>
            </a:lvl8pPr>
            <a:lvl9pPr marL="474726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8998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 sz="17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798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52" algn="ctr"/>
              </a:tabLst>
              <a:defRPr sz="15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476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652" algn="ctr"/>
              </a:tabLst>
              <a:defRPr sz="12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570" indent="-170747">
              <a:buFont typeface="Arial" panose="020B0604020202020204" pitchFamily="34" charset="0"/>
              <a:buChar char="•"/>
              <a:tabLst>
                <a:tab pos="1207287" algn="ctr"/>
              </a:tabLst>
              <a:defRPr sz="1299" baseline="0"/>
            </a:lvl4pPr>
            <a:lvl5pPr marL="525570" indent="-170747">
              <a:buFont typeface="Arial" panose="020B0604020202020204" pitchFamily="34" charset="0"/>
              <a:buChar char="•"/>
              <a:tabLst>
                <a:tab pos="1207287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98" marR="0" lvl="1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476" marR="0" lvl="2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476" marR="0" lvl="2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8474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tiff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7.tif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39" y="6356939"/>
            <a:ext cx="28532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0" y="0"/>
            <a:ext cx="12199234" cy="686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72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62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50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orient="horz" pos="3974">
          <p15:clr>
            <a:srgbClr val="F26B43"/>
          </p15:clr>
        </p15:guide>
        <p15:guide id="6" orient="horz" pos="381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39" y="6356939"/>
            <a:ext cx="28532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8" name="Picture 46">
            <a:extLst>
              <a:ext uri="{FF2B5EF4-FFF2-40B4-BE49-F238E27FC236}">
                <a16:creationId xmlns:a16="http://schemas.microsoft.com/office/drawing/2014/main" id="{D32A324E-25A7-442D-B51B-1DD93A275E4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03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6" r:id="rId2"/>
    <p:sldLayoutId id="2147483677" r:id="rId3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60">
          <p15:clr>
            <a:srgbClr val="F26B43"/>
          </p15:clr>
        </p15:guide>
        <p15:guide id="4" orient="horz" pos="728">
          <p15:clr>
            <a:srgbClr val="F26B43"/>
          </p15:clr>
        </p15:guide>
        <p15:guide id="5" orient="horz" pos="3968">
          <p15:clr>
            <a:srgbClr val="F26B43"/>
          </p15:clr>
        </p15:guide>
        <p15:guide id="6" orient="horz" pos="380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4"/>
            <a:ext cx="12192000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/>
            <a:endParaRPr lang="en-US" sz="1799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155" y="5970991"/>
            <a:ext cx="2259917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64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</p:sldLayoutIdLst>
  <p:hf hdr="0" ftr="0" dt="0"/>
  <p:txStyles>
    <p:titleStyle>
      <a:lvl1pPr algn="l" defTabSz="914034" rtl="0" eaLnBrk="1" latinLnBrk="0" hangingPunct="1">
        <a:lnSpc>
          <a:spcPts val="3439"/>
        </a:lnSpc>
        <a:spcBef>
          <a:spcPct val="0"/>
        </a:spcBef>
        <a:buNone/>
        <a:defRPr sz="3199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034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017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034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051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068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2">
            <a:extLst>
              <a:ext uri="{FF2B5EF4-FFF2-40B4-BE49-F238E27FC236}">
                <a16:creationId xmlns:a16="http://schemas.microsoft.com/office/drawing/2014/main" id="{CE3F7375-FC4E-C611-B430-DEE4C98BD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2117725"/>
            <a:ext cx="233910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 eaLnBrk="1" hangingPunct="1"/>
            <a:r>
              <a:rPr lang="zh-CN" altLang="en-US" sz="4200" b="1">
                <a:solidFill>
                  <a:srgbClr val="231815"/>
                </a:solidFill>
                <a:latin typeface="Huawei Sans Medium" panose="020C0603030203020204" pitchFamily="34" charset="0"/>
              </a:rPr>
              <a:t>智慧记录</a:t>
            </a:r>
            <a:endParaRPr lang="en-US" altLang="zh-CN" sz="4200" b="1" dirty="0">
              <a:solidFill>
                <a:srgbClr val="231815"/>
              </a:solidFill>
              <a:latin typeface="Huawei Sans Medium" panose="020C06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626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3">
            <a:extLst>
              <a:ext uri="{FF2B5EF4-FFF2-40B4-BE49-F238E27FC236}">
                <a16:creationId xmlns:a16="http://schemas.microsoft.com/office/drawing/2014/main" id="{D4DFD8C2-FB90-4412-83D1-ED44DD84F319}"/>
              </a:ext>
            </a:extLst>
          </p:cNvPr>
          <p:cNvSpPr txBox="1">
            <a:spLocks noChangeArrowheads="1"/>
          </p:cNvSpPr>
          <p:nvPr/>
        </p:nvSpPr>
        <p:spPr>
          <a:xfrm>
            <a:off x="790220" y="574620"/>
            <a:ext cx="1368993" cy="985239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ctr">
            <a:normAutofit/>
          </a:bodyPr>
          <a:lstStyle>
            <a:lvl1pPr algn="l" defTabSz="914400" rtl="0" eaLnBrk="1" latinLnBrk="0" hangingPunct="1">
              <a:lnSpc>
                <a:spcPts val="344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4000" b="1" dirty="0">
                <a:latin typeface="+mn-lt"/>
                <a:ea typeface="微软雅黑" panose="020B0503020204020204" pitchFamily="34" charset="-122"/>
              </a:rPr>
              <a:t>目录</a:t>
            </a:r>
            <a:endParaRPr lang="en-US" altLang="zh-CN" sz="4000" b="1" dirty="0">
              <a:latin typeface="+mn-lt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9A6B95E-DA7E-4C45-97B3-891CFDF7949E}"/>
              </a:ext>
            </a:extLst>
          </p:cNvPr>
          <p:cNvCxnSpPr>
            <a:cxnSpLocks/>
          </p:cNvCxnSpPr>
          <p:nvPr/>
        </p:nvCxnSpPr>
        <p:spPr>
          <a:xfrm>
            <a:off x="782536" y="1567543"/>
            <a:ext cx="1092368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74C8EC8A-D4EE-4430-9826-33C600FA18B7}"/>
              </a:ext>
            </a:extLst>
          </p:cNvPr>
          <p:cNvGrpSpPr/>
          <p:nvPr/>
        </p:nvGrpSpPr>
        <p:grpSpPr>
          <a:xfrm>
            <a:off x="1144921" y="1940838"/>
            <a:ext cx="4417679" cy="523056"/>
            <a:chOff x="1050485" y="1748082"/>
            <a:chExt cx="3955722" cy="523260"/>
          </a:xfrm>
        </p:grpSpPr>
        <p:sp>
          <p:nvSpPr>
            <p:cNvPr id="8" name="Text 22">
              <a:extLst>
                <a:ext uri="{FF2B5EF4-FFF2-40B4-BE49-F238E27FC236}">
                  <a16:creationId xmlns:a16="http://schemas.microsoft.com/office/drawing/2014/main" id="{4251C606-8FF0-46C3-A763-D38FF5514532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9" name="Text 23">
              <a:extLst>
                <a:ext uri="{FF2B5EF4-FFF2-40B4-BE49-F238E27FC236}">
                  <a16:creationId xmlns:a16="http://schemas.microsoft.com/office/drawing/2014/main" id="{390E26C9-BFA8-4BE5-BAF0-458BCB644430}"/>
                </a:ext>
              </a:extLst>
            </p:cNvPr>
            <p:cNvSpPr/>
            <p:nvPr/>
          </p:nvSpPr>
          <p:spPr>
            <a:xfrm>
              <a:off x="1867778" y="1748082"/>
              <a:ext cx="3138429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背景与洞察框架</a:t>
              </a:r>
              <a:endParaRPr lang="en-US" sz="27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CAEEBCF-B621-4C9D-B978-1C58CD4AD286}"/>
              </a:ext>
            </a:extLst>
          </p:cNvPr>
          <p:cNvGrpSpPr/>
          <p:nvPr/>
        </p:nvGrpSpPr>
        <p:grpSpPr>
          <a:xfrm>
            <a:off x="1144921" y="2837150"/>
            <a:ext cx="5778393" cy="523016"/>
            <a:chOff x="1050485" y="1748082"/>
            <a:chExt cx="5174146" cy="523220"/>
          </a:xfrm>
        </p:grpSpPr>
        <p:sp>
          <p:nvSpPr>
            <p:cNvPr id="11" name="Text 22">
              <a:extLst>
                <a:ext uri="{FF2B5EF4-FFF2-40B4-BE49-F238E27FC236}">
                  <a16:creationId xmlns:a16="http://schemas.microsoft.com/office/drawing/2014/main" id="{350622CB-7FFD-4307-AE69-8C34D24EC66B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02</a:t>
              </a:r>
            </a:p>
          </p:txBody>
        </p:sp>
        <p:sp>
          <p:nvSpPr>
            <p:cNvPr id="12" name="Text 23">
              <a:extLst>
                <a:ext uri="{FF2B5EF4-FFF2-40B4-BE49-F238E27FC236}">
                  <a16:creationId xmlns:a16="http://schemas.microsoft.com/office/drawing/2014/main" id="{2BB38289-F2E6-4729-AB65-9716BE488F22}"/>
                </a:ext>
              </a:extLst>
            </p:cNvPr>
            <p:cNvSpPr/>
            <p:nvPr/>
          </p:nvSpPr>
          <p:spPr>
            <a:xfrm>
              <a:off x="1867778" y="1748082"/>
              <a:ext cx="4356853" cy="52322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产品与业务现状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A6AE136-A390-4607-BA6B-37B68C26BEE3}"/>
              </a:ext>
            </a:extLst>
          </p:cNvPr>
          <p:cNvGrpSpPr/>
          <p:nvPr/>
        </p:nvGrpSpPr>
        <p:grpSpPr>
          <a:xfrm>
            <a:off x="1144921" y="3733462"/>
            <a:ext cx="5778393" cy="523056"/>
            <a:chOff x="1050485" y="1748082"/>
            <a:chExt cx="5174147" cy="523260"/>
          </a:xfrm>
        </p:grpSpPr>
        <p:sp>
          <p:nvSpPr>
            <p:cNvPr id="14" name="Text 22">
              <a:extLst>
                <a:ext uri="{FF2B5EF4-FFF2-40B4-BE49-F238E27FC236}">
                  <a16:creationId xmlns:a16="http://schemas.microsoft.com/office/drawing/2014/main" id="{C9470133-7C9D-431F-BE4B-A68711BA265F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03</a:t>
              </a:r>
            </a:p>
          </p:txBody>
        </p:sp>
        <p:sp>
          <p:nvSpPr>
            <p:cNvPr id="15" name="Text 23">
              <a:extLst>
                <a:ext uri="{FF2B5EF4-FFF2-40B4-BE49-F238E27FC236}">
                  <a16:creationId xmlns:a16="http://schemas.microsoft.com/office/drawing/2014/main" id="{D979ECD9-45CE-42A4-B643-3CF066C577B7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业界产品与场景洞察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1389970-3F19-43AC-8CC1-D075C1C4EB9E}"/>
              </a:ext>
            </a:extLst>
          </p:cNvPr>
          <p:cNvGrpSpPr/>
          <p:nvPr/>
        </p:nvGrpSpPr>
        <p:grpSpPr>
          <a:xfrm>
            <a:off x="6413607" y="1940836"/>
            <a:ext cx="5778393" cy="523056"/>
            <a:chOff x="1050485" y="1748082"/>
            <a:chExt cx="5174147" cy="523260"/>
          </a:xfrm>
        </p:grpSpPr>
        <p:sp>
          <p:nvSpPr>
            <p:cNvPr id="17" name="Text 22">
              <a:extLst>
                <a:ext uri="{FF2B5EF4-FFF2-40B4-BE49-F238E27FC236}">
                  <a16:creationId xmlns:a16="http://schemas.microsoft.com/office/drawing/2014/main" id="{3DBBAE9A-B91C-4E04-A77D-CA7A9492B9FE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04</a:t>
              </a:r>
            </a:p>
          </p:txBody>
        </p:sp>
        <p:sp>
          <p:nvSpPr>
            <p:cNvPr id="18" name="Text 23">
              <a:extLst>
                <a:ext uri="{FF2B5EF4-FFF2-40B4-BE49-F238E27FC236}">
                  <a16:creationId xmlns:a16="http://schemas.microsoft.com/office/drawing/2014/main" id="{B1B2B1A6-C725-4D6F-9612-BF2A9118EBE2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技术趋势与标杆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05A7044-DDF4-43F5-B3F9-D5D30E3233D0}"/>
              </a:ext>
            </a:extLst>
          </p:cNvPr>
          <p:cNvGrpSpPr/>
          <p:nvPr/>
        </p:nvGrpSpPr>
        <p:grpSpPr>
          <a:xfrm>
            <a:off x="6413607" y="2837112"/>
            <a:ext cx="5778393" cy="523056"/>
            <a:chOff x="1050485" y="1748082"/>
            <a:chExt cx="5174147" cy="523260"/>
          </a:xfrm>
        </p:grpSpPr>
        <p:sp>
          <p:nvSpPr>
            <p:cNvPr id="21" name="Text 22">
              <a:extLst>
                <a:ext uri="{FF2B5EF4-FFF2-40B4-BE49-F238E27FC236}">
                  <a16:creationId xmlns:a16="http://schemas.microsoft.com/office/drawing/2014/main" id="{565C8E74-98D3-486E-9280-CE79C7CC5F83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05</a:t>
              </a:r>
            </a:p>
          </p:txBody>
        </p:sp>
        <p:sp>
          <p:nvSpPr>
            <p:cNvPr id="22" name="Text 23">
              <a:extLst>
                <a:ext uri="{FF2B5EF4-FFF2-40B4-BE49-F238E27FC236}">
                  <a16:creationId xmlns:a16="http://schemas.microsoft.com/office/drawing/2014/main" id="{ABD8C52D-49B4-4F3E-9B0F-97BD882C32F5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机会与外延增量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B0C27F7-B4E9-4267-931A-F14C9581A06B}"/>
              </a:ext>
            </a:extLst>
          </p:cNvPr>
          <p:cNvGrpSpPr/>
          <p:nvPr/>
        </p:nvGrpSpPr>
        <p:grpSpPr>
          <a:xfrm>
            <a:off x="6413607" y="3733443"/>
            <a:ext cx="5778393" cy="523056"/>
            <a:chOff x="1050485" y="1748082"/>
            <a:chExt cx="5174147" cy="523260"/>
          </a:xfrm>
        </p:grpSpPr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7496AE57-18A2-4282-8708-1C5F8BA4F841}"/>
                </a:ext>
              </a:extLst>
            </p:cNvPr>
            <p:cNvSpPr/>
            <p:nvPr/>
          </p:nvSpPr>
          <p:spPr>
            <a:xfrm>
              <a:off x="1050485" y="1748816"/>
              <a:ext cx="817294" cy="521753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/>
            <a:lstStyle/>
            <a:p>
              <a:pPr algn="ctr" defTabSz="914034"/>
              <a:r>
                <a:rPr lang="en-US" sz="27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</a:t>
              </a:r>
              <a:r>
                <a:rPr 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06</a:t>
              </a: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A1BDDAEA-4E63-413F-88BD-F1359647F3F3}"/>
                </a:ext>
              </a:extLst>
            </p:cNvPr>
            <p:cNvSpPr/>
            <p:nvPr/>
          </p:nvSpPr>
          <p:spPr>
            <a:xfrm>
              <a:off x="1867778" y="1748082"/>
              <a:ext cx="4356854" cy="523260"/>
            </a:xfrm>
            <a:prstGeom prst="rect">
              <a:avLst/>
            </a:prstGeom>
            <a:noFill/>
          </p:spPr>
          <p:txBody>
            <a:bodyPr wrap="square" lIns="91404" tIns="45702" rIns="91404" bIns="45702" rtlCol="0" anchor="t">
              <a:spAutoFit/>
            </a:bodyPr>
            <a:lstStyle/>
            <a:p>
              <a:pPr defTabSz="914034"/>
              <a:r>
                <a:rPr lang="zh-CN" altLang="en-US" sz="2799" dirty="0">
                  <a:solidFill>
                    <a:srgbClr val="1D1D1A">
                      <a:lumMod val="90000"/>
                      <a:lumOff val="1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战略与路线图</a:t>
              </a:r>
              <a:endParaRPr lang="en-US" sz="2799" dirty="0">
                <a:solidFill>
                  <a:srgbClr val="1D1D1A">
                    <a:lumMod val="90000"/>
                    <a:lumOff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809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1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背景与洞察框架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24DB4B-78B4-444D-97AC-D9872D94F011}"/>
              </a:ext>
            </a:extLst>
          </p:cNvPr>
          <p:cNvSpPr/>
          <p:nvPr/>
        </p:nvSpPr>
        <p:spPr>
          <a:xfrm>
            <a:off x="6975410" y="944940"/>
            <a:ext cx="4908365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核心问题：为什么现在要做这次洞察？看什么？怎么判断？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背景：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AI Native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趋势下，语音翻译的技术范式、产品形态、场景边界都在变。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洞察范围：产品、技术、场景、标杆、竞争、外延增量。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分析框架：技术路线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×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产品体验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×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设备生态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×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地域部署。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核心问题清单：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端到端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S2ST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会不会取代级联？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智慧记录会不会成为语音翻译的最大增量场景？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端侧多语种翻译的拐点到了吗？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我们该优先补短板，还是优先做差异化？</a:t>
            </a:r>
            <a:endParaRPr lang="en-US" altLang="zh-CN" sz="1200" dirty="0">
              <a:solidFill>
                <a:srgbClr val="0F1115"/>
              </a:solidFill>
              <a:latin typeface="quote-cjk-patch"/>
            </a:endParaRPr>
          </a:p>
          <a:p>
            <a:pPr lvl="1"/>
            <a:endParaRPr lang="en-US" altLang="zh-CN" sz="1200" dirty="0">
              <a:solidFill>
                <a:srgbClr val="0F1115"/>
              </a:solidFill>
              <a:latin typeface="quote-cjk-patch"/>
            </a:endParaRPr>
          </a:p>
          <a:p>
            <a:pPr lvl="1"/>
            <a:r>
              <a:rPr lang="zh-CN" altLang="en-US" sz="1200" dirty="0">
                <a:solidFill>
                  <a:srgbClr val="C00000"/>
                </a:solidFill>
                <a:latin typeface="quote-cjk-patch"/>
              </a:rPr>
              <a:t>上面只是参考，按照业务实际状况增删改</a:t>
            </a:r>
            <a:endParaRPr lang="en-US" altLang="zh-CN" sz="1200" dirty="0">
              <a:solidFill>
                <a:srgbClr val="C00000"/>
              </a:solidFill>
              <a:latin typeface="quote-cjk-patch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1007D2-BF89-4F54-9ACE-A2D94B3EE226}"/>
              </a:ext>
            </a:extLst>
          </p:cNvPr>
          <p:cNvSpPr txBox="1"/>
          <p:nvPr/>
        </p:nvSpPr>
        <p:spPr>
          <a:xfrm>
            <a:off x="376989" y="1179095"/>
            <a:ext cx="5824306" cy="28007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核心变化：从文本摘要到多模态、多维度、多记录内容理解及任务执行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技术范围：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ASR+LLM  -&gt; </a:t>
            </a:r>
            <a:r>
              <a:rPr lang="en-US" altLang="zh-CN" sz="1400" dirty="0"/>
              <a:t>ASR+LLM + Multimodal +RAG + Agent + Memory + On-device Model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产品形态：</a:t>
            </a:r>
            <a:r>
              <a:rPr lang="zh-CN" altLang="en-US" sz="1400" dirty="0"/>
              <a:t>记录 → 转写 → 总结   </a:t>
            </a:r>
            <a:r>
              <a:rPr lang="en-US" altLang="zh-CN" sz="1400" dirty="0"/>
              <a:t>-&gt;</a:t>
            </a:r>
            <a:r>
              <a:rPr lang="zh-CN" altLang="en-US" sz="1400" dirty="0"/>
              <a:t>多模态感知 </a:t>
            </a:r>
            <a:r>
              <a:rPr lang="en-US" altLang="zh-CN" sz="1400" dirty="0"/>
              <a:t>+ </a:t>
            </a:r>
            <a:r>
              <a:rPr lang="zh-CN" altLang="en-US" sz="1400" dirty="0"/>
              <a:t>场景理解 </a:t>
            </a:r>
            <a:r>
              <a:rPr lang="en-US" altLang="zh-CN" sz="1400" dirty="0"/>
              <a:t>+ </a:t>
            </a:r>
            <a:r>
              <a:rPr lang="zh-CN" altLang="en-US" sz="1400" dirty="0"/>
              <a:t>智能洞察 </a:t>
            </a:r>
            <a:r>
              <a:rPr lang="en-US" altLang="zh-CN" sz="1400" dirty="0"/>
              <a:t>+ </a:t>
            </a:r>
            <a:r>
              <a:rPr lang="zh-CN" altLang="en-US" sz="1400" dirty="0"/>
              <a:t>工作执行</a:t>
            </a:r>
            <a:endParaRPr lang="en-US" altLang="zh-CN" sz="1400" dirty="0"/>
          </a:p>
          <a:p>
            <a:r>
              <a:rPr lang="zh-CN" altLang="en-US" sz="1400" dirty="0"/>
              <a:t>场景边界：从会议向访谈、课堂、培训、销售、客户沟通等场景扩展；从通用纪要向场景化、角色化扩展；从纪要输出到工作闭环</a:t>
            </a:r>
            <a:endParaRPr lang="en-US" altLang="zh-CN" sz="1400" dirty="0"/>
          </a:p>
          <a:p>
            <a:r>
              <a:rPr lang="zh-CN" altLang="en-US" sz="1400" dirty="0"/>
              <a:t>设备形态：从单一录音设备向手机、耳机、眼镜、</a:t>
            </a:r>
            <a:r>
              <a:rPr lang="en-US" altLang="zh-CN" sz="1400" dirty="0"/>
              <a:t>PC</a:t>
            </a:r>
            <a:r>
              <a:rPr lang="zh-CN" altLang="en-US" sz="1400" dirty="0"/>
              <a:t>等终端生态延伸</a:t>
            </a:r>
            <a:endParaRPr lang="en-US" altLang="zh-CN" sz="1400" dirty="0"/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竞品内容：竞品已有能力、竞品未具备能力、可构建的差异化竞争力；产品、能力、场景、商业模式的多维度对比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机会与外延：慧记当前现状、范围；后续规划（入口形式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软硬件，后端能力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-Agent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转写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纪要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问答，系统工具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任务执行）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zh-CN" altLang="en-US" sz="1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095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2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产品与业务现状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FD7FE1-70D8-4991-A3D8-40A35EA2312E}"/>
              </a:ext>
            </a:extLst>
          </p:cNvPr>
          <p:cNvSpPr/>
          <p:nvPr/>
        </p:nvSpPr>
        <p:spPr>
          <a:xfrm>
            <a:off x="7034373" y="870102"/>
            <a:ext cx="6096000" cy="38779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 b="1" dirty="0"/>
              <a:t>核心问题：我们有什么？缺什么？问题优先级是什么？</a:t>
            </a:r>
            <a:endParaRPr lang="en-US" altLang="zh-CN" sz="1200" b="1" dirty="0"/>
          </a:p>
          <a:p>
            <a:pPr>
              <a:buFont typeface="+mj-lt"/>
              <a:buAutoNum type="arabicPeriod"/>
            </a:pPr>
            <a:endParaRPr lang="en-US" altLang="zh-CN" sz="1200" b="1" dirty="0">
              <a:solidFill>
                <a:srgbClr val="0F1115"/>
              </a:solidFill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语种与技术路线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中英日韩俄泰：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S2TT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端到端，首响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5s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内。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其他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15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语种：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ASR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小模型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+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翻译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LLM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级联，实时性差。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TTS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：除中英外都是小模型，效果弱。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中英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S2ST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：正在探索，推进慢。</a:t>
            </a: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体验与功能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面对面翻译：两种方式，含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21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语种识别，端侧仅中英。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同声传译：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21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语种与中文互译，复用慧记做会中会后纪要。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AI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字幕：英日韩→中，中英日韩纯转写，声音事件检测在落地。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小艺慧记翻译：中英互译，仅云侧。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通话翻译：端侧中英互译，离线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/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隐私场景，未来扩 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21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语种。</a:t>
            </a: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设备与生态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手机、耳机、眼镜、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PC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、平板、车机、手表均已接入。</a:t>
            </a:r>
          </a:p>
          <a:p>
            <a:pPr>
              <a:buFont typeface="+mj-lt"/>
              <a:buAutoNum type="arabicPeriod"/>
            </a:pPr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地域与部署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国内主部署、出境数据回国、出海仅级联方案，</a:t>
            </a:r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S2TT 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未出海。</a:t>
            </a:r>
            <a:endParaRPr lang="en-US" altLang="zh-CN" sz="12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endParaRPr lang="en-US" altLang="zh-CN" sz="1200" dirty="0">
              <a:solidFill>
                <a:srgbClr val="0F1115"/>
              </a:solidFill>
              <a:latin typeface="quote-cjk-patch"/>
            </a:endParaRPr>
          </a:p>
          <a:p>
            <a:pPr lvl="1"/>
            <a:r>
              <a:rPr lang="zh-CN" altLang="en-US" sz="1200" dirty="0">
                <a:solidFill>
                  <a:srgbClr val="C00000"/>
                </a:solidFill>
                <a:latin typeface="quote-cjk-patch"/>
              </a:rPr>
              <a:t>上面只是参考，按照业务实际状况增删改</a:t>
            </a:r>
            <a:endParaRPr lang="en-US" altLang="zh-CN" sz="1200" dirty="0">
              <a:solidFill>
                <a:srgbClr val="C00000"/>
              </a:solidFill>
              <a:latin typeface="quote-cjk-patch"/>
            </a:endParaRPr>
          </a:p>
          <a:p>
            <a:pPr lvl="1"/>
            <a:endParaRPr lang="en-US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94A09D-8313-41E7-A8B5-B53782E9A206}"/>
              </a:ext>
            </a:extLst>
          </p:cNvPr>
          <p:cNvSpPr/>
          <p:nvPr/>
        </p:nvSpPr>
        <p:spPr>
          <a:xfrm>
            <a:off x="368878" y="67389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 b="1" i="0" dirty="0">
                <a:solidFill>
                  <a:srgbClr val="0F1115"/>
                </a:solidFill>
                <a:effectLst/>
                <a:latin typeface="quote-cjk-patch"/>
              </a:rPr>
              <a:t>技术路线</a:t>
            </a:r>
            <a:endParaRPr lang="en-US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75B8C6-14A1-46D7-93C7-86CDA69B1B09}"/>
              </a:ext>
            </a:extLst>
          </p:cNvPr>
          <p:cNvSpPr/>
          <p:nvPr/>
        </p:nvSpPr>
        <p:spPr>
          <a:xfrm>
            <a:off x="368878" y="239657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 b="1" dirty="0">
                <a:solidFill>
                  <a:srgbClr val="0F1115"/>
                </a:solidFill>
                <a:latin typeface="quote-cjk-patch"/>
              </a:rPr>
              <a:t>体验及功能</a:t>
            </a:r>
            <a:endParaRPr lang="en-US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939594-7BC4-4E69-98D4-CD160FFE5509}"/>
              </a:ext>
            </a:extLst>
          </p:cNvPr>
          <p:cNvSpPr/>
          <p:nvPr/>
        </p:nvSpPr>
        <p:spPr>
          <a:xfrm>
            <a:off x="368878" y="5236572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 b="1" i="0" dirty="0">
                <a:solidFill>
                  <a:srgbClr val="0F1115"/>
                </a:solidFill>
                <a:effectLst/>
                <a:latin typeface="quote-cjk-patch"/>
              </a:rPr>
              <a:t>设备及生态</a:t>
            </a:r>
            <a:endParaRPr lang="en-US" altLang="zh-CN" sz="12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设备类型：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鸿蒙</a:t>
            </a:r>
            <a:r>
              <a:rPr kumimoji="1"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PC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、手机、</a:t>
            </a:r>
            <a:r>
              <a:rPr kumimoji="1"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PAD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kumimoji="1" lang="en-US" altLang="zh-CN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收音方式：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媒体音、麦克风。</a:t>
            </a:r>
            <a:endParaRPr kumimoji="1" lang="en-US" altLang="zh-CN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2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支撑应用：</a:t>
            </a:r>
            <a:r>
              <a:rPr kumimoji="1"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小艺慧记、录音机、备忘录、同声传译。</a:t>
            </a:r>
            <a:endParaRPr kumimoji="1" lang="en-US" altLang="zh-CN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5406852-8D34-467E-AA28-2821A9853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082234"/>
              </p:ext>
            </p:extLst>
          </p:nvPr>
        </p:nvGraphicFramePr>
        <p:xfrm>
          <a:off x="453446" y="2724838"/>
          <a:ext cx="5176598" cy="23926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85150">
                  <a:extLst>
                    <a:ext uri="{9D8B030D-6E8A-4147-A177-3AD203B41FA5}">
                      <a16:colId xmlns:a16="http://schemas.microsoft.com/office/drawing/2014/main" val="170693453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665215449"/>
                    </a:ext>
                  </a:extLst>
                </a:gridCol>
                <a:gridCol w="3684866">
                  <a:extLst>
                    <a:ext uri="{9D8B030D-6E8A-4147-A177-3AD203B41FA5}">
                      <a16:colId xmlns:a16="http://schemas.microsoft.com/office/drawing/2014/main" val="718439040"/>
                    </a:ext>
                  </a:extLst>
                </a:gridCol>
              </a:tblGrid>
              <a:tr h="167588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类型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b="1" dirty="0"/>
                        <a:t>能力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98977"/>
                  </a:ext>
                </a:extLst>
              </a:tr>
              <a:tr h="155617">
                <a:tc rowSpan="9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6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小艺慧记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主题、关键词、待办、发言人总结、摘要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974749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6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多模板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基于场景的模板纪要，会议、学习、访谈场景下模板摘要</a:t>
                      </a:r>
                      <a:endParaRPr lang="zh-CN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551333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场景自感知及模板类型扩充，支持</a:t>
                      </a:r>
                      <a:r>
                        <a:rPr kumimoji="1" lang="en-US" altLang="zh-CN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</a:t>
                      </a: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大场景、</a:t>
                      </a:r>
                      <a:r>
                        <a:rPr kumimoji="1" lang="en-US" altLang="zh-CN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29</a:t>
                      </a: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子场景智能摘要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771489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个性化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基于用户自定义模板的摘要生成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02383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1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结合用户笔记、重点生成纪要，结果中标注笔记来源，内容可追溯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1812459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待办以“待办事项、责任人、截止时间”结构化输出并同步给小艺简报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684718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1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多模态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对用户截图进行内容提取，结合原文生成摘要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81478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多语种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支持中英文场景纪要生成，根据文本语种自动判断，会中双语显示、会后支持翻译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5281894"/>
                  </a:ext>
                </a:extLst>
              </a:tr>
              <a:tr h="155617">
                <a:tc vMerge="1"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1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多视角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多</a:t>
                      </a:r>
                      <a:r>
                        <a:rPr kumimoji="1" lang="en-US" altLang="zh-CN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Agent</a:t>
                      </a: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协同纪要生成方案探索，结合记忆增强、视角分析提升纪要质量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476888"/>
                  </a:ext>
                </a:extLst>
              </a:tr>
              <a:tr h="155617"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6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录音机</a:t>
                      </a:r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6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备忘录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模板摘要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会议、学习、访谈模板摘要；思维导图；智能命名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8315516"/>
                  </a:ext>
                </a:extLst>
              </a:tr>
              <a:tr h="155617"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6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同声传译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多语种摘要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70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会中实时总结、会后全文总结，多语种直出或级联方案</a:t>
                      </a:r>
                      <a:endParaRPr kumimoji="1" lang="en-US" altLang="zh-CN" sz="70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216965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06140097-1DC5-405F-95C6-63823F3EFD3C}"/>
              </a:ext>
            </a:extLst>
          </p:cNvPr>
          <p:cNvSpPr txBox="1"/>
          <p:nvPr/>
        </p:nvSpPr>
        <p:spPr>
          <a:xfrm>
            <a:off x="453446" y="960321"/>
            <a:ext cx="4918017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数据构建：开源数据、现网回流数据</a:t>
            </a:r>
            <a:endParaRPr kumimoji="1"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模型训练：基模选型、</a:t>
            </a:r>
            <a:r>
              <a:rPr kumimoji="1"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RL </a:t>
            </a:r>
          </a:p>
          <a:p>
            <a:pPr algn="l"/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推理优化：</a:t>
            </a:r>
            <a:r>
              <a:rPr kumimoji="1" lang="en-US" altLang="zh-CN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Prompt</a:t>
            </a:r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调优、推理加速</a:t>
            </a:r>
            <a:endParaRPr kumimoji="1"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评测：自动评测、人工评测</a:t>
            </a:r>
            <a:endParaRPr kumimoji="1"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迭代上线、问题分析</a:t>
            </a:r>
          </a:p>
        </p:txBody>
      </p:sp>
    </p:spTree>
    <p:extLst>
      <p:ext uri="{BB962C8B-B14F-4D97-AF65-F5344CB8AC3E}">
        <p14:creationId xmlns:p14="http://schemas.microsoft.com/office/powerpoint/2010/main" val="254688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3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业界产品与场景洞察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119A074-43ED-46CD-996A-CEEEF987F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184291"/>
              </p:ext>
            </p:extLst>
          </p:nvPr>
        </p:nvGraphicFramePr>
        <p:xfrm>
          <a:off x="127977" y="996983"/>
          <a:ext cx="6447701" cy="454826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130614">
                  <a:extLst>
                    <a:ext uri="{9D8B030D-6E8A-4147-A177-3AD203B41FA5}">
                      <a16:colId xmlns:a16="http://schemas.microsoft.com/office/drawing/2014/main" val="725965299"/>
                    </a:ext>
                  </a:extLst>
                </a:gridCol>
                <a:gridCol w="4317087">
                  <a:extLst>
                    <a:ext uri="{9D8B030D-6E8A-4147-A177-3AD203B41FA5}">
                      <a16:colId xmlns:a16="http://schemas.microsoft.com/office/drawing/2014/main" val="2330183827"/>
                    </a:ext>
                  </a:extLst>
                </a:gridCol>
              </a:tblGrid>
              <a:tr h="468591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竞品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亮点功能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260787"/>
                  </a:ext>
                </a:extLst>
              </a:tr>
              <a:tr h="684677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讯飞星火纪要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实时录入、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音视频文本</a:t>
                      </a:r>
                      <a:r>
                        <a:rPr lang="zh-CN" altLang="en-US" sz="1100" dirty="0"/>
                        <a:t>多格式离线上传；支持提前录制声纹；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多方言、外语支持</a:t>
                      </a:r>
                      <a:r>
                        <a:rPr lang="zh-CN" altLang="en-US" sz="1100" dirty="0"/>
                        <a:t>；多种纪要模板及模板自定义；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跨纪要问答、交叉对比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653610"/>
                  </a:ext>
                </a:extLst>
              </a:tr>
              <a:tr h="491563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讯飞录音笔、办公本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多方言外语</a:t>
                      </a:r>
                      <a:r>
                        <a:rPr lang="zh-CN" altLang="en-US" sz="1100" dirty="0"/>
                        <a:t>支持；会议类型自适应；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离线</a:t>
                      </a:r>
                      <a:r>
                        <a:rPr lang="zh-CN" altLang="en-US" sz="1100" dirty="0"/>
                        <a:t>语音转写与纪要生成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97218"/>
                  </a:ext>
                </a:extLst>
              </a:tr>
              <a:tr h="468591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飞书妙记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关键词搜索；智能翻译；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待办原文跳转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89672"/>
                  </a:ext>
                </a:extLst>
              </a:tr>
              <a:tr h="491563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通义听悟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实时记录、音视频上传；发言人、文字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实时修改、高亮标记</a:t>
                      </a:r>
                      <a:r>
                        <a:rPr lang="zh-CN" altLang="en-US" sz="1100" dirty="0"/>
                        <a:t>；内容回顾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原文跳转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09336"/>
                  </a:ext>
                </a:extLst>
              </a:tr>
              <a:tr h="491563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腾讯会议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根据说话人语气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识别会议氛围</a:t>
                      </a:r>
                      <a:r>
                        <a:rPr lang="zh-CN" altLang="en-US" sz="1100" dirty="0"/>
                        <a:t>；个性化选择</a:t>
                      </a:r>
                      <a:r>
                        <a:rPr lang="en-US" altLang="zh-CN" sz="1100" dirty="0"/>
                        <a:t>AI</a:t>
                      </a:r>
                      <a:r>
                        <a:rPr lang="zh-CN" altLang="en-US" sz="1100" dirty="0"/>
                        <a:t>角色；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元宝联动</a:t>
                      </a:r>
                      <a:r>
                        <a:rPr lang="zh-CN" altLang="en-US" sz="1100" dirty="0"/>
                        <a:t>、信息问答、联网搜索；主持人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纪要管控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15453"/>
                  </a:ext>
                </a:extLst>
              </a:tr>
              <a:tr h="468591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钉钉</a:t>
                      </a:r>
                      <a:r>
                        <a:rPr lang="en-US" altLang="zh-CN" sz="1100" dirty="0"/>
                        <a:t>DingTalkA1/ </a:t>
                      </a:r>
                      <a:r>
                        <a:rPr lang="zh-CN" altLang="en-US" sz="1100" dirty="0"/>
                        <a:t>钉钉</a:t>
                      </a:r>
                      <a:r>
                        <a:rPr lang="en-US" altLang="zh-CN" sz="1100" dirty="0"/>
                        <a:t>AI</a:t>
                      </a:r>
                      <a:r>
                        <a:rPr lang="zh-CN" altLang="en-US" sz="1100" dirty="0"/>
                        <a:t>耳机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记录、转写、同声传译、</a:t>
                      </a:r>
                      <a:r>
                        <a:rPr lang="en-US" altLang="zh-CN" sz="1100" dirty="0"/>
                        <a:t>AI</a:t>
                      </a:r>
                      <a:r>
                        <a:rPr lang="zh-CN" altLang="en-US" sz="1100" dirty="0"/>
                        <a:t>纪要生成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932465"/>
                  </a:ext>
                </a:extLst>
              </a:tr>
              <a:tr h="491563">
                <a:tc>
                  <a:txBody>
                    <a:bodyPr/>
                    <a:lstStyle/>
                    <a:p>
                      <a:r>
                        <a:rPr lang="en-US" altLang="zh-CN" sz="1100" dirty="0" err="1"/>
                        <a:t>Plaud</a:t>
                      </a:r>
                      <a:r>
                        <a:rPr lang="en-US" altLang="zh-CN" sz="1100" dirty="0"/>
                        <a:t> Note / Pin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总结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模板自定义</a:t>
                      </a:r>
                      <a:r>
                        <a:rPr lang="zh-CN" altLang="en-US" sz="1100" dirty="0"/>
                        <a:t>；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大语言模型自由选择</a:t>
                      </a:r>
                      <a:r>
                        <a:rPr lang="zh-CN" altLang="en-US" sz="1100" dirty="0"/>
                        <a:t>；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思维导图生成</a:t>
                      </a:r>
                      <a:r>
                        <a:rPr lang="zh-CN" altLang="en-US" sz="1100" dirty="0"/>
                        <a:t>；功能丰富、形式多样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095769"/>
                  </a:ext>
                </a:extLst>
              </a:tr>
              <a:tr h="491563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solidFill>
                            <a:prstClr val="black"/>
                          </a:solidFill>
                        </a:rPr>
                        <a:t>Google meet- take notes for me</a:t>
                      </a:r>
                      <a:endParaRPr kumimoji="1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Gemini</a:t>
                      </a:r>
                      <a:r>
                        <a:rPr lang="zh-CN" altLang="en-US" sz="1100" dirty="0"/>
                        <a:t>会议记录；支持英法德意日韩葡语（不支持多语言会议）；主持人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纪要管控</a:t>
                      </a:r>
                      <a:r>
                        <a:rPr lang="zh-CN" altLang="en-US" sz="1100" dirty="0"/>
                        <a:t>；会后</a:t>
                      </a:r>
                      <a:r>
                        <a:rPr lang="zh-CN" altLang="en-US" sz="1100" dirty="0">
                          <a:solidFill>
                            <a:srgbClr val="FF0000"/>
                          </a:solidFill>
                        </a:rPr>
                        <a:t>邮件、日历事项生成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00408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051FB888-0592-4320-A9D3-4181561CE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349" y="322699"/>
            <a:ext cx="1157726" cy="16125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8A5F8ED-8198-416A-83E7-17B01E20B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258" y="322699"/>
            <a:ext cx="2488384" cy="16212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8960030-802F-4024-B693-E9E57F6C9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458" y="424854"/>
            <a:ext cx="2193844" cy="150622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2327735-C2F9-4630-8D63-56F2F0556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029" y="2274297"/>
            <a:ext cx="2322545" cy="1327170"/>
          </a:xfrm>
          <a:prstGeom prst="rect">
            <a:avLst/>
          </a:prstGeom>
        </p:spPr>
      </p:pic>
      <p:pic>
        <p:nvPicPr>
          <p:cNvPr id="11" name="Picture 2" descr="https://cdn.meeting.tencent.com/pro/5e4a7bc41fb125d8ccc47d0f1a9993bd.png">
            <a:extLst>
              <a:ext uri="{FF2B5EF4-FFF2-40B4-BE49-F238E27FC236}">
                <a16:creationId xmlns:a16="http://schemas.microsoft.com/office/drawing/2014/main" id="{AA2600B5-09E5-424F-A25E-346537A9A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355" y="2179813"/>
            <a:ext cx="2205290" cy="150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EC47051-9945-426C-8D27-3160F2B619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344" y="4001903"/>
            <a:ext cx="1018957" cy="1967784"/>
          </a:xfrm>
          <a:prstGeom prst="roundRect">
            <a:avLst>
              <a:gd name="adj" fmla="val 7022"/>
            </a:avLst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6E306A3-CA88-4A6F-87B7-86274353BD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3450" y="4011772"/>
            <a:ext cx="939123" cy="195791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ACE3793-7AAB-41B9-B15F-FCA17CEA5E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12949" y="2262922"/>
            <a:ext cx="1225353" cy="126564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8BAC3F4-50A0-4108-BE6F-8DD1F36D41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1581" y="4000319"/>
            <a:ext cx="3405296" cy="195791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C2AD6D0-F59E-4CCD-AF47-CE2DDAF4B187}"/>
              </a:ext>
            </a:extLst>
          </p:cNvPr>
          <p:cNvSpPr txBox="1"/>
          <p:nvPr/>
        </p:nvSpPr>
        <p:spPr>
          <a:xfrm>
            <a:off x="6788423" y="2010536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讯飞星火纪要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18377CA-8328-4688-9BCF-46D3989BDA0F}"/>
              </a:ext>
            </a:extLst>
          </p:cNvPr>
          <p:cNvSpPr txBox="1"/>
          <p:nvPr/>
        </p:nvSpPr>
        <p:spPr>
          <a:xfrm>
            <a:off x="8651581" y="2032096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讯飞</a:t>
            </a:r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X5</a:t>
            </a:r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办公本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5A3FC87-68B0-47B7-A3BB-367733E49884}"/>
              </a:ext>
            </a:extLst>
          </p:cNvPr>
          <p:cNvSpPr txBox="1"/>
          <p:nvPr/>
        </p:nvSpPr>
        <p:spPr>
          <a:xfrm>
            <a:off x="10435627" y="2032096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飞书秒记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8FC7A34-2C00-4EE8-9AA9-F68B1CCF1968}"/>
              </a:ext>
            </a:extLst>
          </p:cNvPr>
          <p:cNvSpPr txBox="1"/>
          <p:nvPr/>
        </p:nvSpPr>
        <p:spPr>
          <a:xfrm>
            <a:off x="6638026" y="3624275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通义听悟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F99A3A-7BE3-45C3-99F7-B4C60B2BEA57}"/>
              </a:ext>
            </a:extLst>
          </p:cNvPr>
          <p:cNvSpPr txBox="1"/>
          <p:nvPr/>
        </p:nvSpPr>
        <p:spPr>
          <a:xfrm>
            <a:off x="8894612" y="3625088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腾讯会议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0D1DFE-80E4-4C49-956A-575A61BC818B}"/>
              </a:ext>
            </a:extLst>
          </p:cNvPr>
          <p:cNvSpPr txBox="1"/>
          <p:nvPr/>
        </p:nvSpPr>
        <p:spPr>
          <a:xfrm>
            <a:off x="10849350" y="3605497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钉钉</a:t>
            </a:r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DingTalkA1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410ECF-48F9-48FF-AB99-2DA392D47587}"/>
              </a:ext>
            </a:extLst>
          </p:cNvPr>
          <p:cNvSpPr txBox="1"/>
          <p:nvPr/>
        </p:nvSpPr>
        <p:spPr>
          <a:xfrm>
            <a:off x="6600252" y="5989806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1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Plaud</a:t>
            </a:r>
            <a:endParaRPr kumimoji="1" lang="zh-CN" altLang="en-US" sz="1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CC93670-E3B4-4F26-8EB0-B5C61E8B0E72}"/>
              </a:ext>
            </a:extLst>
          </p:cNvPr>
          <p:cNvSpPr txBox="1"/>
          <p:nvPr/>
        </p:nvSpPr>
        <p:spPr>
          <a:xfrm>
            <a:off x="9688830" y="5973703"/>
            <a:ext cx="135255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Google meet</a:t>
            </a:r>
            <a:endParaRPr kumimoji="1" lang="zh-CN" altLang="en-US" sz="1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B2E49B4-C27E-4258-AB6B-02CF5B9EF0AC}"/>
              </a:ext>
            </a:extLst>
          </p:cNvPr>
          <p:cNvSpPr/>
          <p:nvPr/>
        </p:nvSpPr>
        <p:spPr>
          <a:xfrm>
            <a:off x="6838665" y="772497"/>
            <a:ext cx="951271" cy="155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D467E42-5FE9-45E9-A133-92D3C8AFFF48}"/>
              </a:ext>
            </a:extLst>
          </p:cNvPr>
          <p:cNvSpPr/>
          <p:nvPr/>
        </p:nvSpPr>
        <p:spPr>
          <a:xfrm>
            <a:off x="11171903" y="619692"/>
            <a:ext cx="616274" cy="2585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089760-99E9-4797-80AB-B7EB25398988}"/>
              </a:ext>
            </a:extLst>
          </p:cNvPr>
          <p:cNvSpPr/>
          <p:nvPr/>
        </p:nvSpPr>
        <p:spPr>
          <a:xfrm>
            <a:off x="7312695" y="2432416"/>
            <a:ext cx="231106" cy="98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175B61-DC4C-4445-BF62-45DB2AB66FF6}"/>
              </a:ext>
            </a:extLst>
          </p:cNvPr>
          <p:cNvSpPr/>
          <p:nvPr/>
        </p:nvSpPr>
        <p:spPr>
          <a:xfrm>
            <a:off x="6274487" y="2670173"/>
            <a:ext cx="307287" cy="79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0F75DA1-FAFA-48BF-8130-89BF486DE932}"/>
              </a:ext>
            </a:extLst>
          </p:cNvPr>
          <p:cNvSpPr/>
          <p:nvPr/>
        </p:nvSpPr>
        <p:spPr>
          <a:xfrm>
            <a:off x="9807859" y="3271116"/>
            <a:ext cx="769654" cy="1480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7C304A-D1FA-4C56-9E15-DF167CCBC268}"/>
              </a:ext>
            </a:extLst>
          </p:cNvPr>
          <p:cNvSpPr/>
          <p:nvPr/>
        </p:nvSpPr>
        <p:spPr>
          <a:xfrm>
            <a:off x="10630184" y="4368800"/>
            <a:ext cx="675991" cy="980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92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4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技术趋势与标杆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E633861-B03A-476B-9B08-E62004E55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196434"/>
              </p:ext>
            </p:extLst>
          </p:nvPr>
        </p:nvGraphicFramePr>
        <p:xfrm>
          <a:off x="175834" y="622636"/>
          <a:ext cx="7074131" cy="515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050">
                  <a:extLst>
                    <a:ext uri="{9D8B030D-6E8A-4147-A177-3AD203B41FA5}">
                      <a16:colId xmlns:a16="http://schemas.microsoft.com/office/drawing/2014/main" val="3053545501"/>
                    </a:ext>
                  </a:extLst>
                </a:gridCol>
                <a:gridCol w="1304937">
                  <a:extLst>
                    <a:ext uri="{9D8B030D-6E8A-4147-A177-3AD203B41FA5}">
                      <a16:colId xmlns:a16="http://schemas.microsoft.com/office/drawing/2014/main" val="3048498650"/>
                    </a:ext>
                  </a:extLst>
                </a:gridCol>
                <a:gridCol w="1251518">
                  <a:extLst>
                    <a:ext uri="{9D8B030D-6E8A-4147-A177-3AD203B41FA5}">
                      <a16:colId xmlns:a16="http://schemas.microsoft.com/office/drawing/2014/main" val="1513863339"/>
                    </a:ext>
                  </a:extLst>
                </a:gridCol>
                <a:gridCol w="1709768">
                  <a:extLst>
                    <a:ext uri="{9D8B030D-6E8A-4147-A177-3AD203B41FA5}">
                      <a16:colId xmlns:a16="http://schemas.microsoft.com/office/drawing/2014/main" val="771553477"/>
                    </a:ext>
                  </a:extLst>
                </a:gridCol>
                <a:gridCol w="1670858">
                  <a:extLst>
                    <a:ext uri="{9D8B030D-6E8A-4147-A177-3AD203B41FA5}">
                      <a16:colId xmlns:a16="http://schemas.microsoft.com/office/drawing/2014/main" val="1412936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维度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初级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进阶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业界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慧记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587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转写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文本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说话人、时间戳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非实时说话人、多语种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实时说话人、中英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421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模态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音频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图片、视频、笔记、文档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音频、文本、图片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3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音频、文本、图片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27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纪要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扁平总结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结构化纪要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标题、多模板摘要、待办、发言人总结、思维导图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3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标题、多模板摘要、待办、发言人总结、思维导图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239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可信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内容生成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信息抽取、证据检索、事实校验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内容生成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笔记内容追溯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018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记录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单场记录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多记录信息联动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多记录联合生成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跨记录问答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851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角色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会议内容理解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会议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Agent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千问、悟空联动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待办同步系统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7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端云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云侧（隐私问题）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端云协同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大多纯云侧模型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云模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端模支持，高密会议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620228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2542A997-B355-4EEC-9741-3D04A7E3B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228" y="1385602"/>
            <a:ext cx="4601217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30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5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机会与外延增量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5" name="Table 30">
            <a:extLst>
              <a:ext uri="{FF2B5EF4-FFF2-40B4-BE49-F238E27FC236}">
                <a16:creationId xmlns:a16="http://schemas.microsoft.com/office/drawing/2014/main" id="{AEF2EF8E-8C76-49ED-AF18-4F5A30C91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725003"/>
              </p:ext>
            </p:extLst>
          </p:nvPr>
        </p:nvGraphicFramePr>
        <p:xfrm>
          <a:off x="160934" y="788868"/>
          <a:ext cx="11750040" cy="553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0302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业界已经做到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仍然空着（可切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 天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不要做成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302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中英/多语客户会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会中同传：Teams、Zoom Voice Translator、DeepL GA、Meet。飞书有译文写入纪要的叙事。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dirty="0" err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同一时间轴双栏：议题</a:t>
                      </a:r>
                      <a:r>
                        <a:rPr sz="1100" b="0" dirty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</a:t>
                      </a:r>
                      <a:r>
                        <a:rPr sz="1100" b="0" dirty="0" err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决议</a:t>
                      </a:r>
                      <a:r>
                        <a:rPr sz="1100" b="0" dirty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</a:t>
                      </a:r>
                      <a:r>
                        <a:rPr sz="1100" b="0" dirty="0" err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待办中英对照；待办字段分开；时间戳点回原话。Google</a:t>
                      </a:r>
                      <a:r>
                        <a:rPr sz="1100" b="0" dirty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Take notes </a:t>
                      </a:r>
                      <a:r>
                        <a:rPr sz="1100" b="0" dirty="0" err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一场会一种口语、不含中文；Teams</a:t>
                      </a:r>
                      <a:r>
                        <a:rPr sz="1100" b="0" dirty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多语混说只记所选语言</a:t>
                      </a:r>
                      <a:r>
                        <a:rPr sz="1100" b="0" dirty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能。ASR+MT 即可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按小时卖同传主产品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302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人到不了会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腾讯 AI 托管 2025-09；飞书豆包工作伙伴可带上下文代参会（定向）。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按角色裁一页纸；不能托管的会清单（加密、等候室、研讨会）。托管中主账号入会应取消托管。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缺席者 Catch-up 模板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默认代发言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302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评审/培训/Demo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听悟抽约 200 张幻灯（挡会差）；元宝边录边拍；多维视界看 PPT/白板；Plaud 可拍照进上下文。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翻页/激光笔/用户打点才采样。Highlight 加权进决议/待办。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上传录像或手动打点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未告知常驻看屏幕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302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会后执行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ZoomMate、Notion Custom Agent、豆包、WorkBuddy、讯飞 GlassClaw。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建议清单（系统、标题、人、期、原话）→勾选→写入一个任务系统，可回滚。默认只写测试空间。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只打通一个系统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一键改生产 CRM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302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跨入口记忆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各家只认自家的会。Granola MCP、ima 吃微信、Fireflies→Claude。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腾讯会+飞书+Zoom+线下+通话+微信语音进同一 schema。问「上季度客户怎么说交期」。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一个来源+上传语音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同时接四家 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308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合规采集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Fellow 治理；Apple 端侧（大陆不可用）；Minutes 本地+31 个 MCP。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设置页：不训练、可关、留存 30/90/0、标题禁录、合成音标注、拟声默认关。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设置页先于文采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0" dirty="0" err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全天可穿戴监听</a:t>
                      </a:r>
                      <a:endParaRPr sz="1100" b="0" dirty="0">
                        <a:solidFill>
                          <a:srgbClr val="0F111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FB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23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>
            <a:extLst>
              <a:ext uri="{FF2B5EF4-FFF2-40B4-BE49-F238E27FC236}">
                <a16:creationId xmlns:a16="http://schemas.microsoft.com/office/drawing/2014/main" id="{251941C0-3C70-456C-A9EA-F6004C537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63" y="128440"/>
            <a:ext cx="842075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806847">
              <a:spcAft>
                <a:spcPct val="1500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+mn-ea"/>
              </a:rPr>
              <a:t>6 </a:t>
            </a:r>
            <a:r>
              <a:rPr lang="zh-CN" altLang="en-US" sz="2600" b="1" dirty="0">
                <a:solidFill>
                  <a:srgbClr val="C00000"/>
                </a:solidFill>
                <a:latin typeface="+mn-ea"/>
              </a:rPr>
              <a:t>战略与路线图</a:t>
            </a:r>
          </a:p>
        </p:txBody>
      </p:sp>
      <p:sp>
        <p:nvSpPr>
          <p:cNvPr id="29" name="Line 23">
            <a:extLst>
              <a:ext uri="{FF2B5EF4-FFF2-40B4-BE49-F238E27FC236}">
                <a16:creationId xmlns:a16="http://schemas.microsoft.com/office/drawing/2014/main" id="{8CDF9A8E-DDC4-4FD6-85E5-37E438E293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0" y="605765"/>
            <a:ext cx="12023419" cy="16871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185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5" name="Table 30">
            <a:extLst>
              <a:ext uri="{FF2B5EF4-FFF2-40B4-BE49-F238E27FC236}">
                <a16:creationId xmlns:a16="http://schemas.microsoft.com/office/drawing/2014/main" id="{8D4B00B8-0250-4396-96AF-EEF3A9C64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73605"/>
              </p:ext>
            </p:extLst>
          </p:nvPr>
        </p:nvGraphicFramePr>
        <p:xfrm>
          <a:off x="152436" y="946145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202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战线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现在（90 天能演示）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立刻排期（约 180 天试点）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未来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6–12 月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成功长什么样</a:t>
                      </a:r>
                      <a:endParaRPr sz="120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语音翻译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锁中英：S2ST 可演示；首响 5s 往 2–3s 打。面对面/通话/同传共用底座。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 TTS。21 语识别打磨。术语表进同传。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端侧扩到 21 语。非中英 TTS 换小模型。S2TT 出海立项。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中英不破节奏。拟声可关，合成音有标注。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智慧记录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结构冻结：议题/决议/待办（人+期）/风险。每条回放。会后改名。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改名写回后续场次。客户会、评审会模板。Highlight。待办导出文件。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角色裁剪。跨会检索。只读 MCP。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一页纸也信，因为能点回原话。待办落到人。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翻译×纪要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一场中英混合会：字幕双显+双栏对照。待办字段分开。标注 AI 翻译。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同传音频与纪要时间轴对齐。缺席者 Catch-up。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用中文问英文客户会。跨语言知识层。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不再在同传和纪要两个入口复制粘贴。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设备协同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主入口=手机+耳机或 PC。一场对话一份库。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跨设备续上。通话翻译与慧记打通。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眼镜/车机/手表只做听懂和提醒。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戴着就能记，不是每端一个 App。</a:t>
                      </a:r>
                    </a:p>
                  </a:txBody>
                  <a:tcPr>
                    <a:solidFill>
                      <a:srgbClr val="FB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治理与出海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默认不训练、可关采集。设置页先于文采。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留存 30/90/0 天。标题禁录。拟声默认关。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端侧/专有云可售。S2TT 出海。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00" b="0" dirty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 500 </a:t>
                      </a:r>
                      <a:r>
                        <a:rPr sz="1200" b="0" dirty="0" err="1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人公司法务和信创清单</a:t>
                      </a:r>
                      <a:r>
                        <a:rPr sz="1200" b="0" dirty="0">
                          <a:solidFill>
                            <a:srgbClr val="0F111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75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ez1qtycj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2.xml><?xml version="1.0" encoding="utf-8"?>
<a:theme xmlns:a="http://schemas.openxmlformats.org/drawingml/2006/main" name="1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3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3217</TotalTime>
  <Words>1695</Words>
  <Application>Microsoft Office PowerPoint</Application>
  <PresentationFormat>宽屏</PresentationFormat>
  <Paragraphs>234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Huawei Sans Medium</vt:lpstr>
      <vt:lpstr>quote-cjk-patch</vt:lpstr>
      <vt:lpstr>等线</vt:lpstr>
      <vt:lpstr>方正兰亭黑简体</vt:lpstr>
      <vt:lpstr>微软雅黑</vt:lpstr>
      <vt:lpstr>微软雅黑</vt:lpstr>
      <vt:lpstr>Arial</vt:lpstr>
      <vt:lpstr>6_章节页</vt:lpstr>
      <vt:lpstr>12_章节页</vt:lpstr>
      <vt:lpstr>封面页_图片版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Xuyue</dc:creator>
  <cp:lastModifiedBy>shenjiakun</cp:lastModifiedBy>
  <cp:revision>243</cp:revision>
  <dcterms:created xsi:type="dcterms:W3CDTF">2026-09-10T02:12:11Z</dcterms:created>
  <dcterms:modified xsi:type="dcterms:W3CDTF">2026-09-17T13:56:23Z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1789540133</vt:lpwstr>
  </property>
</Properties>
</file>