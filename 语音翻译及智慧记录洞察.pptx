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66" r:id="rId3"/>
    <p:sldMasterId id="2147483668" r:id="rId4"/>
  </p:sldMasterIdLst>
  <p:notesMasterIdLst>
    <p:notesMasterId r:id="rId14"/>
  </p:notesMasterIdLst>
  <p:sldIdLst>
    <p:sldId id="428" r:id="rId5"/>
    <p:sldId id="2147483601" r:id="rId6"/>
    <p:sldId id="2147483602" r:id="rId7"/>
    <p:sldId id="2147483603" r:id="rId8"/>
    <p:sldId id="2147483604" r:id="rId9"/>
    <p:sldId id="2147483605" r:id="rId10"/>
    <p:sldId id="2147483606" r:id="rId11"/>
    <p:sldId id="2147483607" r:id="rId12"/>
    <p:sldId id="214748360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F48"/>
    <a:srgbClr val="C00000"/>
    <a:srgbClr val="DDEAF7"/>
    <a:srgbClr val="5C9BD5"/>
    <a:srgbClr val="6CA5D9"/>
    <a:srgbClr val="DEEBF7"/>
    <a:srgbClr val="F5F8FE"/>
    <a:srgbClr val="343E46"/>
    <a:srgbClr val="667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81629" autoAdjust="0"/>
  </p:normalViewPr>
  <p:slideViewPr>
    <p:cSldViewPr snapToGrid="0">
      <p:cViewPr varScale="1">
        <p:scale>
          <a:sx n="129" d="100"/>
          <a:sy n="129" d="100"/>
        </p:scale>
        <p:origin x="1506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21F13-393F-4530-A220-B4DF84B54F2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65F2-73BC-43AE-875B-67BAD6EFC3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2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65F2-73BC-43AE-875B-67BAD6EFC3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984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187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400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691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50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F2D66-9C0D-4EC1-9C5C-B0209DCE6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9BD51C-3B2C-4EC8-B3E7-56F78F593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3F779-3DD6-405C-BEA0-5EF30624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DA26FB-8ECA-45EB-85FE-F41154F5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9D3C6-202A-4A96-9EF9-8639013F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B0C1F-834A-4D8E-B2C5-5AF84D34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8871B-7BA0-49DC-B92F-7AFE1B68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164A7-825E-4548-8332-52E40776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4055E-546F-4B70-8D1A-EEF1DDE3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40026-76B6-498C-982B-0AC8C70C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56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5F778-805F-4E67-9D31-904F55D5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A802CC-439A-4A36-837F-8837A2FF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C6F7F-A2D5-42FA-AFB9-2EEB8F3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3759B-309E-456E-86AD-2208BEAB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B02B1-3D82-40D4-9810-EA2F7742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0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E4E88-8CC3-4CDB-9E2E-E1480229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F6DC9-648D-4ED8-B3AF-DCD4F3322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2D297A-BB5E-4444-8E0D-4051D6EDD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73E0DD-E720-443B-973B-C2EABCBE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FEF5FC-AA14-4AC5-8D4E-D63D95B2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764CF-9A45-4704-8C36-CF024165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1CFAD-6AB4-4FA3-8A23-C7EABE0B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2AF08-3E80-4324-847C-D33F8924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CEB25B-BCE3-43E5-BD37-CEDC8BCD6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0F2281-1C49-48A6-8C0A-90C453EB2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D2C0EC-00E8-4A7D-BB80-912191F95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2E20C1-69B2-4A0F-B0D7-D1F5F479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7773A2-564C-408F-9092-7239ED79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6B308F-30BC-4E56-B5AD-1A59D978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46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76EC7-D45C-4CE3-885D-EAC96D11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309EB9-5CEA-42ED-A0EC-B4A3AAC8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4E719-B6BC-4258-B7AA-7B295933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5E20D9-A3BD-4FFA-A5FD-D8D4A368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52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B5619C-15E3-42AE-ABE9-85882678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832B94-22FB-4DE3-BD87-784D500F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68EFF6-6D18-49A6-BB6F-51AD187F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9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D183F-EA86-4B2E-88F8-7339EEEF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2CB21-3E3A-456C-941C-A95CD8691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860C40-0A73-4C44-8B4E-B20882D40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BD283-F0B3-4D7C-B5C2-2BEED82D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0B2806-3914-4405-9F94-0E1B7DC7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E69EDC-DE76-49BC-8EAF-1B37EAB4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67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113A2-4B7F-4927-A000-045F2EB5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85372D-46DF-428F-BB3E-31F5F3B95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36F327-4BA7-46C2-B7F2-1AACE6FB7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6A99B-FF6B-4F59-9770-AE5B2631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5D224B-2090-4298-AF14-EB99A7CF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811D7-5743-4DF3-8CFC-BF9E0EA7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45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77F11-9876-4486-8A7A-61103471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9BFB3-B3E0-41E2-A74E-147DB0147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619561-1D28-492C-9D01-CE9274DE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5416A-BB97-494C-B48F-1573554C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D34E47-B26D-4341-BD59-6EDBC471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8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2EA981-D392-42BA-BF13-360513D36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D36964-87BC-44A1-9434-2875E54DE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D0F30-EAF2-44BB-8690-50057CA2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00574-5F03-45F0-A4A1-A1A1B06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13D4A9-669B-474E-B264-E7DCFC52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484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3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657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C8C02C-DDDC-99ED-AB4D-80BC3DC503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26350-8598-1D6E-75E2-F0A35174CF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8" y="6330950"/>
            <a:ext cx="12493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67CE97E-FDA5-4904-36B5-B971714B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FC57CCE-4B21-46FA-8DF9-9AE80427FC2A}" type="slidenum">
              <a:rPr lang="zh-CN" altLang="en-US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59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37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035945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0188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542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975" indent="0" algn="ctr">
              <a:buNone/>
              <a:defRPr sz="2334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7438" indent="0" algn="ctr">
              <a:buNone/>
              <a:defRPr sz="2079"/>
            </a:lvl6pPr>
            <a:lvl7pPr marL="3560290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89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474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f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tif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7.tiff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C44D32-D67B-4101-B68C-C6F6B646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9EF326-ED63-4590-99C2-92320E5F7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4C8C93-58CD-4A96-8234-163C636BA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47A69-D175-474C-99D9-2CED5E28D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C0A8F-B7E2-423F-B1E9-B1F2C2AF4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0" y="0"/>
            <a:ext cx="12199234" cy="68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72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2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50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38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D32A324E-25A7-442D-B51B-1DD93A275E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77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799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6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tter.a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fireflies.a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869622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en-US" altLang="zh-CN" sz="4200" b="1" dirty="0">
                <a:solidFill>
                  <a:srgbClr val="231815"/>
                </a:solidFill>
                <a:latin typeface="Huawei Sans Medium" panose="020C0603030203020204" pitchFamily="34" charset="0"/>
              </a:rPr>
              <a:t>AI Native</a:t>
            </a:r>
            <a:r>
              <a:rPr lang="zh-CN" altLang="en-US" sz="4200" b="1" dirty="0">
                <a:solidFill>
                  <a:srgbClr val="231815"/>
                </a:solidFill>
                <a:latin typeface="Huawei Sans Medium" panose="020C0603030203020204" pitchFamily="34" charset="0"/>
              </a:rPr>
              <a:t>应用：语音翻译、智慧记录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23391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zh-CN" altLang="en-US" sz="4200" b="1">
                <a:solidFill>
                  <a:srgbClr val="231815"/>
                </a:solidFill>
                <a:latin typeface="Huawei Sans Medium" panose="020C0603030203020204" pitchFamily="34" charset="0"/>
              </a:rPr>
              <a:t>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2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>
            <a:extLst>
              <a:ext uri="{FF2B5EF4-FFF2-40B4-BE49-F238E27FC236}">
                <a16:creationId xmlns:a16="http://schemas.microsoft.com/office/drawing/2014/main" id="{D4DFD8C2-FB90-4412-83D1-ED44DD84F319}"/>
              </a:ext>
            </a:extLst>
          </p:cNvPr>
          <p:cNvSpPr txBox="1">
            <a:spLocks noChangeArrowheads="1"/>
          </p:cNvSpPr>
          <p:nvPr/>
        </p:nvSpPr>
        <p:spPr>
          <a:xfrm>
            <a:off x="790220" y="574620"/>
            <a:ext cx="1368993" cy="985239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4000" b="1" dirty="0">
                <a:latin typeface="+mn-lt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A6B95E-DA7E-4C45-97B3-891CFDF7949E}"/>
              </a:ext>
            </a:extLst>
          </p:cNvPr>
          <p:cNvCxnSpPr>
            <a:cxnSpLocks/>
          </p:cNvCxnSpPr>
          <p:nvPr/>
        </p:nvCxnSpPr>
        <p:spPr>
          <a:xfrm>
            <a:off x="782536" y="1567543"/>
            <a:ext cx="109236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C8EC8A-D4EE-4430-9826-33C600FA18B7}"/>
              </a:ext>
            </a:extLst>
          </p:cNvPr>
          <p:cNvGrpSpPr/>
          <p:nvPr/>
        </p:nvGrpSpPr>
        <p:grpSpPr>
          <a:xfrm>
            <a:off x="1144921" y="1940838"/>
            <a:ext cx="4417679" cy="523056"/>
            <a:chOff x="1050485" y="1748082"/>
            <a:chExt cx="3955722" cy="523260"/>
          </a:xfrm>
        </p:grpSpPr>
        <p:sp>
          <p:nvSpPr>
            <p:cNvPr id="8" name="Text 22">
              <a:extLst>
                <a:ext uri="{FF2B5EF4-FFF2-40B4-BE49-F238E27FC236}">
                  <a16:creationId xmlns:a16="http://schemas.microsoft.com/office/drawing/2014/main" id="{4251C606-8FF0-46C3-A763-D38FF5514532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9" name="Text 23">
              <a:extLst>
                <a:ext uri="{FF2B5EF4-FFF2-40B4-BE49-F238E27FC236}">
                  <a16:creationId xmlns:a16="http://schemas.microsoft.com/office/drawing/2014/main" id="{390E26C9-BFA8-4BE5-BAF0-458BCB644430}"/>
                </a:ext>
              </a:extLst>
            </p:cNvPr>
            <p:cNvSpPr/>
            <p:nvPr/>
          </p:nvSpPr>
          <p:spPr>
            <a:xfrm>
              <a:off x="1867778" y="1748082"/>
              <a:ext cx="3138429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背景与洞察框架</a:t>
              </a:r>
              <a:endParaRPr lang="en-US" sz="27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CAEEBCF-B621-4C9D-B978-1C58CD4AD286}"/>
              </a:ext>
            </a:extLst>
          </p:cNvPr>
          <p:cNvGrpSpPr/>
          <p:nvPr/>
        </p:nvGrpSpPr>
        <p:grpSpPr>
          <a:xfrm>
            <a:off x="1144921" y="2837150"/>
            <a:ext cx="5778393" cy="523016"/>
            <a:chOff x="1050485" y="1748082"/>
            <a:chExt cx="5174146" cy="523220"/>
          </a:xfrm>
        </p:grpSpPr>
        <p:sp>
          <p:nvSpPr>
            <p:cNvPr id="11" name="Text 22">
              <a:extLst>
                <a:ext uri="{FF2B5EF4-FFF2-40B4-BE49-F238E27FC236}">
                  <a16:creationId xmlns:a16="http://schemas.microsoft.com/office/drawing/2014/main" id="{350622CB-7FFD-4307-AE69-8C34D24EC66B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02</a:t>
              </a:r>
            </a:p>
          </p:txBody>
        </p:sp>
        <p:sp>
          <p:nvSpPr>
            <p:cNvPr id="12" name="Text 23">
              <a:extLst>
                <a:ext uri="{FF2B5EF4-FFF2-40B4-BE49-F238E27FC236}">
                  <a16:creationId xmlns:a16="http://schemas.microsoft.com/office/drawing/2014/main" id="{2BB38289-F2E6-4729-AB65-9716BE488F22}"/>
                </a:ext>
              </a:extLst>
            </p:cNvPr>
            <p:cNvSpPr/>
            <p:nvPr/>
          </p:nvSpPr>
          <p:spPr>
            <a:xfrm>
              <a:off x="1867778" y="1748082"/>
              <a:ext cx="4356853" cy="52322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产品与业务现状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6AE136-A390-4607-BA6B-37B68C26BEE3}"/>
              </a:ext>
            </a:extLst>
          </p:cNvPr>
          <p:cNvGrpSpPr/>
          <p:nvPr/>
        </p:nvGrpSpPr>
        <p:grpSpPr>
          <a:xfrm>
            <a:off x="1144921" y="3733462"/>
            <a:ext cx="5778393" cy="523056"/>
            <a:chOff x="1050485" y="1748082"/>
            <a:chExt cx="5174147" cy="523260"/>
          </a:xfrm>
        </p:grpSpPr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C9470133-7C9D-431F-BE4B-A68711BA265F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03</a:t>
              </a:r>
            </a:p>
          </p:txBody>
        </p:sp>
        <p:sp>
          <p:nvSpPr>
            <p:cNvPr id="15" name="Text 23">
              <a:extLst>
                <a:ext uri="{FF2B5EF4-FFF2-40B4-BE49-F238E27FC236}">
                  <a16:creationId xmlns:a16="http://schemas.microsoft.com/office/drawing/2014/main" id="{D979ECD9-45CE-42A4-B643-3CF066C577B7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业界产品与场景洞察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1389970-3F19-43AC-8CC1-D075C1C4EB9E}"/>
              </a:ext>
            </a:extLst>
          </p:cNvPr>
          <p:cNvGrpSpPr/>
          <p:nvPr/>
        </p:nvGrpSpPr>
        <p:grpSpPr>
          <a:xfrm>
            <a:off x="6413607" y="1940836"/>
            <a:ext cx="5778393" cy="523056"/>
            <a:chOff x="1050485" y="1748082"/>
            <a:chExt cx="5174147" cy="523260"/>
          </a:xfrm>
        </p:grpSpPr>
        <p:sp>
          <p:nvSpPr>
            <p:cNvPr id="17" name="Text 22">
              <a:extLst>
                <a:ext uri="{FF2B5EF4-FFF2-40B4-BE49-F238E27FC236}">
                  <a16:creationId xmlns:a16="http://schemas.microsoft.com/office/drawing/2014/main" id="{3DBBAE9A-B91C-4E04-A77D-CA7A9492B9FE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04</a:t>
              </a:r>
            </a:p>
          </p:txBody>
        </p:sp>
        <p:sp>
          <p:nvSpPr>
            <p:cNvPr id="18" name="Text 23">
              <a:extLst>
                <a:ext uri="{FF2B5EF4-FFF2-40B4-BE49-F238E27FC236}">
                  <a16:creationId xmlns:a16="http://schemas.microsoft.com/office/drawing/2014/main" id="{B1B2B1A6-C725-4D6F-9612-BF2A9118EBE2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技术趋势与标杆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5A7044-DDF4-43F5-B3F9-D5D30E3233D0}"/>
              </a:ext>
            </a:extLst>
          </p:cNvPr>
          <p:cNvGrpSpPr/>
          <p:nvPr/>
        </p:nvGrpSpPr>
        <p:grpSpPr>
          <a:xfrm>
            <a:off x="6413607" y="2837112"/>
            <a:ext cx="5778393" cy="523056"/>
            <a:chOff x="1050485" y="1748082"/>
            <a:chExt cx="5174147" cy="523260"/>
          </a:xfrm>
        </p:grpSpPr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565C8E74-98D3-486E-9280-CE79C7CC5F83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05</a:t>
              </a:r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ABD8C52D-49B4-4F3E-9B0F-97BD882C32F5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机会与外延增量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B0C27F7-B4E9-4267-931A-F14C9581A06B}"/>
              </a:ext>
            </a:extLst>
          </p:cNvPr>
          <p:cNvGrpSpPr/>
          <p:nvPr/>
        </p:nvGrpSpPr>
        <p:grpSpPr>
          <a:xfrm>
            <a:off x="6413607" y="3733443"/>
            <a:ext cx="5778393" cy="523056"/>
            <a:chOff x="1050485" y="1748082"/>
            <a:chExt cx="5174147" cy="523260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496AE57-18A2-4282-8708-1C5F8BA4F841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06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1BDDAEA-4E63-413F-88BD-F1359647F3F3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战略与路线图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0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1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背景与洞察框架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24DB4B-78B4-444D-97AC-D9872D94F011}"/>
              </a:ext>
            </a:extLst>
          </p:cNvPr>
          <p:cNvSpPr/>
          <p:nvPr/>
        </p:nvSpPr>
        <p:spPr>
          <a:xfrm>
            <a:off x="6975410" y="944940"/>
            <a:ext cx="490836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核心问题：为什么现在要做这次洞察？看什么？怎么判断？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背景：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Native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趋势下，语音翻译的技术范式、产品形态、场景边界都在变。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洞察范围：产品、技术、场景、标杆、竞争、外延增量。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分析框架：技术路线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产品体验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设备生态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地域部署。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核心问题清单：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端到端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S2ST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会不会取代级联？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智慧记录会不会成为语音翻译的最大增量场景？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端侧多语种翻译的拐点到了吗？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我们该优先补短板，还是优先做差异化？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4095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2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产品与业务现状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FD7FE1-70D8-4991-A3D8-40A35EA2312E}"/>
              </a:ext>
            </a:extLst>
          </p:cNvPr>
          <p:cNvSpPr/>
          <p:nvPr/>
        </p:nvSpPr>
        <p:spPr>
          <a:xfrm>
            <a:off x="7034373" y="870102"/>
            <a:ext cx="6096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/>
              <a:t>核心问题：我们有什么？缺什么？问题优先级是什么？</a:t>
            </a:r>
            <a:endParaRPr lang="en-US" altLang="zh-CN" sz="1200" b="1" dirty="0"/>
          </a:p>
          <a:p>
            <a:pPr>
              <a:buFont typeface="+mj-lt"/>
              <a:buAutoNum type="arabicPeriod"/>
            </a:pPr>
            <a:endParaRPr lang="en-US" altLang="zh-CN" sz="1200" b="1" dirty="0">
              <a:solidFill>
                <a:srgbClr val="0F1115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语种与技术路线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中英日韩俄泰：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S2TT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端到端，首响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5s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内。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其他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15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ASR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小模型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翻译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LLM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级联，实时性差。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TTS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：除中英外都是小模型，效果弱。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中英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S2ST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：正在探索，推进慢。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体验与功能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面对面翻译：两种方式，含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语种识别，端侧仅中英。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同声传译：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语种与中文互译，复用慧记做会中会后纪要。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字幕：英日韩→中，中英日韩纯转写，声音事件检测在落地。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小艺慧记翻译：中英互译，仅云侧。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通话翻译：端侧中英互译，离线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隐私场景，未来扩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设备与生态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手机、耳机、眼镜、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PC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、平板、车机、手表均已接入。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地域与部署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国内主部署、出境数据回国、出海仅级联方案，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S2TT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未出海。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lvl="1"/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468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3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业界产品与场景洞察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572A87-F4FE-4414-868F-E29D5017D4A4}"/>
              </a:ext>
            </a:extLst>
          </p:cNvPr>
          <p:cNvSpPr/>
          <p:nvPr/>
        </p:nvSpPr>
        <p:spPr>
          <a:xfrm>
            <a:off x="5770652" y="1337777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核心问题：谁在做？怎么做？哪些场景正在起量？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硬件标杆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时空壶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W4 Plus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Babel OS 3.0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领域翻译、会话记忆、实时总结、骨声纹。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科大讯飞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眼镜：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40g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122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种语言、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18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种离线、唇动识别。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有道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耳机：本人音色输出翻译。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OPPO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：耳机端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对话翻译。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软件</a:t>
            </a:r>
            <a:r>
              <a:rPr lang="en-US" altLang="zh-CN" sz="1200" b="1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会议标杆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有道同传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Agent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：实时识别、翻译、时间戳对照、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总结、脑图。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钉钉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听记：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72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种语言互译。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latin typeface="quote-cjk-patc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Otter.ai</a:t>
            </a:r>
            <a:r>
              <a:rPr lang="zh-CN" altLang="en-US" sz="1200" dirty="0">
                <a:latin typeface="quote-cjk-patch"/>
              </a:rPr>
              <a:t>、</a:t>
            </a:r>
            <a:r>
              <a:rPr lang="en-US" altLang="zh-CN" sz="1200" dirty="0">
                <a:latin typeface="quote-cjk-patc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Fireflies.ai</a:t>
            </a:r>
            <a:r>
              <a:rPr lang="zh-CN" altLang="en-US" sz="1200" dirty="0">
                <a:latin typeface="quote-cjk-patch"/>
              </a:rPr>
              <a:t>、</a:t>
            </a:r>
            <a:r>
              <a:rPr lang="en-US" altLang="zh-CN" sz="1200" dirty="0" err="1">
                <a:latin typeface="quote-cjk-patch"/>
              </a:rPr>
              <a:t>Notta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：会议记录 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多语言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工具集成。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新场景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无障碍：声音事件检测、听障辅助。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通话翻译：跨境商务、跨境客服、隐私通话。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多语种会议：实时翻译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纪要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待办。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车机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眼镜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手表：轻量化、场景化翻译。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产品信号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Agent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化、音色克隆、多设备协同、专业词库、离线能力。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zh-CN" altLang="en-U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7719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4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技术趋势与标杆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A01383-CE89-4F45-B8FC-17B65DD2380E}"/>
              </a:ext>
            </a:extLst>
          </p:cNvPr>
          <p:cNvSpPr/>
          <p:nvPr/>
        </p:nvSpPr>
        <p:spPr>
          <a:xfrm>
            <a:off x="6664503" y="2348775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核心问题：技术往哪走？标杆指标是什么？我们差距在哪？</a:t>
            </a:r>
            <a:endParaRPr lang="en-US" altLang="zh-CN" sz="1200" b="1" dirty="0">
              <a:solidFill>
                <a:srgbClr val="0F1115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端到端 </a:t>
            </a:r>
            <a:r>
              <a:rPr lang="en-US" altLang="zh-CN" sz="1200" b="1" dirty="0">
                <a:solidFill>
                  <a:srgbClr val="0F1115"/>
                </a:solidFill>
                <a:latin typeface="quote-cjk-patch"/>
              </a:rPr>
              <a:t>S2ST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Meta SeamlessM4T v2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Google Gemini 3.5 Live Translate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、通义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Qwen </a:t>
            </a:r>
            <a:r>
              <a:rPr lang="en-US" altLang="zh-CN" sz="1200" dirty="0" err="1">
                <a:solidFill>
                  <a:srgbClr val="0F1115"/>
                </a:solidFill>
                <a:latin typeface="quote-cjk-patch"/>
              </a:rPr>
              <a:t>LiveTranslate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关键趋势：低延迟、流式、韵律保留、音色克隆。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流式翻译与延迟优化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首响从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5s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向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2-3s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演进。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TTS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占级联管线计算时间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62%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，流式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TTS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是最高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ROI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端侧量化与多语种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腾讯混元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Hy-MT2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1.8B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1.25-bit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440MB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33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传音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Hi Translate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170M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、约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60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OPPO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天玑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NPU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端侧翻译。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韵律、音色、情感、声音事件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PASST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框架：语言内容、韵律、音色解耦。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声音事件检测进入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字幕和会议记录。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技术趋势判断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2027-2028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端到端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S2ST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成为主流。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端侧多语种翻译技术可行。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翻译从功能变为平台能力。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lvl="1"/>
            <a:endParaRPr lang="zh-CN" altLang="en-U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1D5CF0-D96E-4D3E-979D-A66813F1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245" y="4656157"/>
            <a:ext cx="3369845" cy="188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5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机会与外延增量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74A68D-2158-49F1-A34A-37B329A8E3B9}"/>
              </a:ext>
            </a:extLst>
          </p:cNvPr>
          <p:cNvSpPr/>
          <p:nvPr/>
        </p:nvSpPr>
        <p:spPr>
          <a:xfrm>
            <a:off x="6383065" y="1086761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核心问题：语音翻译和智慧记录还能外延出什么增量？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52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6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战略与路线图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C58B25-2337-488B-AE6C-08C0A0DDE705}"/>
              </a:ext>
            </a:extLst>
          </p:cNvPr>
          <p:cNvSpPr/>
          <p:nvPr/>
        </p:nvSpPr>
        <p:spPr>
          <a:xfrm>
            <a:off x="6152233" y="1025116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核心问题：现在做什么？正在做什么？未来准备做什么？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7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z1qtycj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3.xml><?xml version="1.0" encoding="utf-8"?>
<a:theme xmlns:a="http://schemas.openxmlformats.org/drawingml/2006/main" name="1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4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863</Words>
  <Application>Microsoft Office PowerPoint</Application>
  <PresentationFormat>宽屏</PresentationFormat>
  <Paragraphs>101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Huawei Sans</vt:lpstr>
      <vt:lpstr>Huawei Sans Medium</vt:lpstr>
      <vt:lpstr>quote-cjk-patch</vt:lpstr>
      <vt:lpstr>等线</vt:lpstr>
      <vt:lpstr>等线 Light</vt:lpstr>
      <vt:lpstr>微软雅黑</vt:lpstr>
      <vt:lpstr>Arial</vt:lpstr>
      <vt:lpstr>Office 主题​​</vt:lpstr>
      <vt:lpstr>6_章节页</vt:lpstr>
      <vt:lpstr>12_章节页</vt:lpstr>
      <vt:lpstr>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houyefei</cp:lastModifiedBy>
  <cp:revision>216</cp:revision>
  <dcterms:created xsi:type="dcterms:W3CDTF">2026-09-10T02:12:11Z</dcterms:created>
  <dcterms:modified xsi:type="dcterms:W3CDTF">2026-09-17T11:44:51Z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1789540133</vt:lpwstr>
  </property>
</Properties>
</file>