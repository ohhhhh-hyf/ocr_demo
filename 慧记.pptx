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14748357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8CD4"/>
    <a:srgbClr val="8A4AC8"/>
    <a:srgbClr val="6B63D9"/>
    <a:srgbClr val="00A9D6"/>
    <a:srgbClr val="6E45B8"/>
    <a:srgbClr val="198CB1"/>
    <a:srgbClr val="8A49C7"/>
    <a:srgbClr val="02A9D6"/>
    <a:srgbClr val="D8EBFE"/>
    <a:srgbClr val="947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95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51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4AE78-D77F-48AF-A38C-22273CB41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D1B751-422C-41E9-9047-89DC82383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73A59-1A86-4C2E-B970-409932EFB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7C592F-EF3B-4038-A388-51689EE2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80EC43-3FDB-49A7-A320-58D91C05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43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C45C3-A031-42A3-8972-53D29F7F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6831B-D08E-4F8E-A58D-F8BC33149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0BBEF3-93C5-4B6B-B43F-3FDB0812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2441C1-EBBA-4D23-BC36-AE55B876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DDDE2C-1145-4096-BC2E-57B66FE5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030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EEDE7-B55C-418C-9CB8-C180AEF42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0E5BA6-6114-45CA-9181-85116AF64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BD4C0B-7AD9-4242-B4B3-32BE0C237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0B0C9-3823-457E-AA8A-9404EE89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109024-E8CF-4FBB-8659-AC5C6EFE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98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5874A3-B399-40CE-8772-B22585C9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A252D-C131-4670-BA97-27FAD6B4E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E0A15B-8ED1-406D-983D-C535D78F0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AC00AB-B79F-4BE5-BEDA-781EA69D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328B77-076F-4D3A-AF23-0467093B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1BB3B6-4BBF-4845-B6F4-BCD578D9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4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08B39-9089-4FCE-90EF-1603897D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592362-9CC8-44F7-B723-0F1203662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CF5A4B-16F4-4F20-996F-6625BAFBD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DF7382-F35F-4859-9079-C6D9A0812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3039EC-37FC-451E-91A7-F73660AA3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2FB837-4714-4965-90C2-5213A92B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579C2F-64A7-4C14-BA07-813BD4B9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E9B88D-B560-48B1-B556-42021836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70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9C0CF-4B08-43CA-BD05-61B3CCCA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D4348D-026A-4D76-A1D5-D24A95F1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0B473A-8CDB-4C28-A409-DBFAB7EC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CEED1C-C982-4A77-BEDD-CFD037BE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46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557C9E-0F3A-4FB8-BFBD-E9E5209B4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7C0C31-6A70-439F-A329-761BFA19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3C61B1-2F84-4D6E-B0C0-58565A8D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511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058B9-6F40-41EC-9476-2B8EE3663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6928AD-A8E3-436B-A1F7-E4C3F2820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B605C3-F385-4AC8-A5A1-357F22A22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33E4E1-C8E2-43AD-BE2F-1951E7AC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3F7920-1131-4AF8-BFD8-4B6954AC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749949-1002-422F-8006-0B20840F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4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09459-1F49-4815-8126-927EA418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BD115E-E8B9-43E1-BC8D-C9F3CBE16E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75FE9A-5412-4B72-8124-008E0E9F7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18949B-DFBB-498A-B7C1-41666AB6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554B73-00A6-4E36-A3C7-0E5B0FB8D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638F16-5731-4263-A709-8757C5B1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76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0F496-0C2D-4B91-B22C-5A342D29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79C7CF-E783-41EE-9BC4-51A2BE8CB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160A2F-C612-4B57-AC83-DF9E1C54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923F05-86F8-4656-AE0C-9854D9C9A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9D6E-F001-4BF3-B43E-AAD5E727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7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6D27EE-BD13-4F11-AC41-FFA8F1DAC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70DC76-F1B3-4B69-A896-56F09B12B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5EAB63-273E-42FE-B0C7-A189B6783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3BAFAD-8C21-4035-B045-E59A5CDA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1E978B-3983-4F83-97A1-0342C8D2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579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4017AE-4501-409A-821B-F0C6D481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33D980-11F4-4F24-9735-EAA475D6B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792BF2-FE35-4D99-B21C-D881E8270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A8790-BB5A-42F0-A482-62FD277499F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B0B7A-AD48-4005-B612-1AFB10A26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CD1DE-AED8-4673-90BE-8CAA28B76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F7AFE-3007-4E07-A976-E9E829D17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02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D9A487E-720A-8103-71D7-81A1ADDE2BD0}"/>
              </a:ext>
            </a:extLst>
          </p:cNvPr>
          <p:cNvSpPr/>
          <p:nvPr/>
        </p:nvSpPr>
        <p:spPr>
          <a:xfrm>
            <a:off x="1759432" y="2347033"/>
            <a:ext cx="7272242" cy="1581028"/>
          </a:xfrm>
          <a:prstGeom prst="roundRect">
            <a:avLst>
              <a:gd name="adj" fmla="val 617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9090CBD0-C247-E6F4-6873-A06D7F6CC511}"/>
              </a:ext>
            </a:extLst>
          </p:cNvPr>
          <p:cNvSpPr/>
          <p:nvPr/>
        </p:nvSpPr>
        <p:spPr>
          <a:xfrm>
            <a:off x="1927442" y="1414490"/>
            <a:ext cx="6971533" cy="621987"/>
          </a:xfrm>
          <a:prstGeom prst="roundRect">
            <a:avLst>
              <a:gd name="adj" fmla="val 1044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CE3178D-7D40-F5D1-688D-F9C0E134C611}"/>
              </a:ext>
            </a:extLst>
          </p:cNvPr>
          <p:cNvSpPr/>
          <p:nvPr/>
        </p:nvSpPr>
        <p:spPr>
          <a:xfrm>
            <a:off x="1927442" y="2486854"/>
            <a:ext cx="3523855" cy="1380016"/>
          </a:xfrm>
          <a:prstGeom prst="roundRect">
            <a:avLst>
              <a:gd name="adj" fmla="val 377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BDE2E4-A81C-44C9-BDE6-6F4B9C0A211A}"/>
              </a:ext>
            </a:extLst>
          </p:cNvPr>
          <p:cNvSpPr>
            <a:spLocks noGrp="1"/>
          </p:cNvSpPr>
          <p:nvPr/>
        </p:nvSpPr>
        <p:spPr>
          <a:xfrm>
            <a:off x="495300" y="212725"/>
            <a:ext cx="57150" cy="628650"/>
          </a:xfrm>
          <a:prstGeom prst="rect">
            <a:avLst/>
          </a:prstGeom>
          <a:solidFill>
            <a:srgbClr val="36D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F12C81-EFD1-4E4B-A8DB-7B682B7BF73A}"/>
              </a:ext>
            </a:extLst>
          </p:cNvPr>
          <p:cNvSpPr>
            <a:spLocks noGrp="1"/>
          </p:cNvSpPr>
          <p:nvPr/>
        </p:nvSpPr>
        <p:spPr>
          <a:xfrm>
            <a:off x="666750" y="24257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</a:t>
            </a:r>
            <a:r>
              <a:rPr lang="en-US" altLang="zh-CN" sz="2325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Agent</a:t>
            </a:r>
            <a:r>
              <a:rPr lang="zh-CN" altLang="en-US" sz="2325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协作架构</a:t>
            </a:r>
            <a:endParaRPr sz="2325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F0CD56-8316-B127-FCB8-CCE6FCE03B3B}"/>
              </a:ext>
            </a:extLst>
          </p:cNvPr>
          <p:cNvSpPr/>
          <p:nvPr/>
        </p:nvSpPr>
        <p:spPr>
          <a:xfrm>
            <a:off x="2044043" y="1532524"/>
            <a:ext cx="2910229" cy="410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会议理解</a:t>
            </a:r>
            <a:r>
              <a:rPr lang="en-US" altLang="zh-CN" sz="1400" dirty="0"/>
              <a:t>Agent(</a:t>
            </a:r>
            <a:r>
              <a:rPr lang="zh-CN" altLang="en-US" sz="1400" dirty="0"/>
              <a:t>抽取会议信息底座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9B3C4-1706-56F9-6E1D-56C87A792251}"/>
              </a:ext>
            </a:extLst>
          </p:cNvPr>
          <p:cNvSpPr/>
          <p:nvPr/>
        </p:nvSpPr>
        <p:spPr>
          <a:xfrm>
            <a:off x="5850976" y="1532523"/>
            <a:ext cx="2910229" cy="410555"/>
          </a:xfrm>
          <a:prstGeom prst="rect">
            <a:avLst/>
          </a:prstGeom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视角建模</a:t>
            </a:r>
            <a:r>
              <a:rPr lang="en-US" altLang="zh-CN" sz="1400" dirty="0"/>
              <a:t>Agent(</a:t>
            </a:r>
            <a:r>
              <a:rPr lang="zh-CN" altLang="en-US" sz="1400" dirty="0"/>
              <a:t>构建个性化视角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92A9D5-9E85-0B82-9AA9-0143245B74C4}"/>
              </a:ext>
            </a:extLst>
          </p:cNvPr>
          <p:cNvSpPr/>
          <p:nvPr/>
        </p:nvSpPr>
        <p:spPr>
          <a:xfrm>
            <a:off x="3735251" y="533333"/>
            <a:ext cx="3320604" cy="410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会议领域任务</a:t>
            </a:r>
            <a:r>
              <a:rPr lang="en-US" altLang="zh-CN" sz="1400" dirty="0"/>
              <a:t>Start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38000E-4D3C-C7C0-B305-3E991FBC46C5}"/>
              </a:ext>
            </a:extLst>
          </p:cNvPr>
          <p:cNvSpPr txBox="1"/>
          <p:nvPr/>
        </p:nvSpPr>
        <p:spPr>
          <a:xfrm>
            <a:off x="556117" y="153252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感知理解层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93DC19-5F77-7E48-CC09-84F74851E26F}"/>
              </a:ext>
            </a:extLst>
          </p:cNvPr>
          <p:cNvSpPr txBox="1"/>
          <p:nvPr/>
        </p:nvSpPr>
        <p:spPr>
          <a:xfrm>
            <a:off x="552450" y="299595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任务分发层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D6F7D9-B984-BFC5-2024-E88CC42C530C}"/>
              </a:ext>
            </a:extLst>
          </p:cNvPr>
          <p:cNvSpPr txBox="1"/>
          <p:nvPr/>
        </p:nvSpPr>
        <p:spPr>
          <a:xfrm>
            <a:off x="552450" y="4305490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质检审核层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C1511E-2299-11EA-31BC-EC27E4B522DB}"/>
              </a:ext>
            </a:extLst>
          </p:cNvPr>
          <p:cNvSpPr txBox="1"/>
          <p:nvPr/>
        </p:nvSpPr>
        <p:spPr>
          <a:xfrm>
            <a:off x="552450" y="506582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渲染交互层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0FEB5A-5E20-A415-8B38-4B215967B7BA}"/>
              </a:ext>
            </a:extLst>
          </p:cNvPr>
          <p:cNvSpPr/>
          <p:nvPr/>
        </p:nvSpPr>
        <p:spPr>
          <a:xfrm>
            <a:off x="2053070" y="2770110"/>
            <a:ext cx="1475571" cy="4593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模板纪要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A391C8-5F8B-76D8-74DC-61B07E6F57FE}"/>
              </a:ext>
            </a:extLst>
          </p:cNvPr>
          <p:cNvSpPr/>
          <p:nvPr/>
        </p:nvSpPr>
        <p:spPr>
          <a:xfrm>
            <a:off x="3779231" y="2766276"/>
            <a:ext cx="1522978" cy="45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溯源纪要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B10BCF-18A3-3C1F-2112-4D6AD63176FC}"/>
              </a:ext>
            </a:extLst>
          </p:cNvPr>
          <p:cNvSpPr/>
          <p:nvPr/>
        </p:nvSpPr>
        <p:spPr>
          <a:xfrm>
            <a:off x="5577103" y="2766275"/>
            <a:ext cx="1522979" cy="45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风险提取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7E93239-BB6A-C7D0-9F63-0625D333F3BB}"/>
              </a:ext>
            </a:extLst>
          </p:cNvPr>
          <p:cNvSpPr/>
          <p:nvPr/>
        </p:nvSpPr>
        <p:spPr>
          <a:xfrm>
            <a:off x="7367215" y="2766274"/>
            <a:ext cx="1522979" cy="45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待办提取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63F7B5-06F7-656F-7D74-12C80DEA4CAA}"/>
              </a:ext>
            </a:extLst>
          </p:cNvPr>
          <p:cNvSpPr/>
          <p:nvPr/>
        </p:nvSpPr>
        <p:spPr>
          <a:xfrm>
            <a:off x="2053070" y="3329300"/>
            <a:ext cx="1475571" cy="459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议程纪要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D17B52-7EC3-66D3-E9BB-2AD0D3124B24}"/>
              </a:ext>
            </a:extLst>
          </p:cNvPr>
          <p:cNvSpPr/>
          <p:nvPr/>
        </p:nvSpPr>
        <p:spPr>
          <a:xfrm>
            <a:off x="3735252" y="4259377"/>
            <a:ext cx="3320604" cy="410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审核</a:t>
            </a:r>
            <a:r>
              <a:rPr lang="en-US" altLang="zh-CN" sz="1400" dirty="0"/>
              <a:t>Agent(</a:t>
            </a:r>
            <a:r>
              <a:rPr lang="zh-CN" altLang="en-US" sz="1400" dirty="0"/>
              <a:t>幻觉消除</a:t>
            </a:r>
            <a:r>
              <a:rPr lang="en-US" altLang="zh-CN" sz="1400" dirty="0"/>
              <a:t>/</a:t>
            </a:r>
            <a:r>
              <a:rPr lang="zh-CN" altLang="en-US" sz="1400" dirty="0"/>
              <a:t>一致性检验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12B4CF-3E28-27C4-9594-858C58919173}"/>
              </a:ext>
            </a:extLst>
          </p:cNvPr>
          <p:cNvSpPr/>
          <p:nvPr/>
        </p:nvSpPr>
        <p:spPr>
          <a:xfrm>
            <a:off x="3735251" y="4987536"/>
            <a:ext cx="3320605" cy="607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渲染</a:t>
            </a:r>
            <a:r>
              <a:rPr lang="en-US" altLang="zh-CN" sz="1400" dirty="0"/>
              <a:t>Agent(Markdown/HTML/PNG)</a:t>
            </a:r>
            <a:endParaRPr lang="zh-CN" altLang="en-US" sz="14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7E64E8-48A8-C987-1E61-E4FFF7A4278E}"/>
              </a:ext>
            </a:extLst>
          </p:cNvPr>
          <p:cNvSpPr/>
          <p:nvPr/>
        </p:nvSpPr>
        <p:spPr>
          <a:xfrm>
            <a:off x="5576925" y="3347168"/>
            <a:ext cx="1522978" cy="459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逻辑纪要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1FEC96-191F-DCFA-2799-1D31BCA2DD21}"/>
              </a:ext>
            </a:extLst>
          </p:cNvPr>
          <p:cNvSpPr/>
          <p:nvPr/>
        </p:nvSpPr>
        <p:spPr>
          <a:xfrm>
            <a:off x="3769070" y="3336893"/>
            <a:ext cx="1531761" cy="45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思维导图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6638183-D48A-EE9A-16B5-3C19B78BB3F5}"/>
              </a:ext>
            </a:extLst>
          </p:cNvPr>
          <p:cNvSpPr/>
          <p:nvPr/>
        </p:nvSpPr>
        <p:spPr>
          <a:xfrm>
            <a:off x="7375997" y="3337214"/>
            <a:ext cx="1522978" cy="45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决策演变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F6CC0B9-0730-39CC-4C7A-84E6F3AC608A}"/>
              </a:ext>
            </a:extLst>
          </p:cNvPr>
          <p:cNvSpPr/>
          <p:nvPr/>
        </p:nvSpPr>
        <p:spPr>
          <a:xfrm>
            <a:off x="3735251" y="5949532"/>
            <a:ext cx="3320604" cy="410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会议领域任务</a:t>
            </a:r>
            <a:r>
              <a:rPr lang="en-US" altLang="zh-CN" sz="1400" dirty="0"/>
              <a:t>End</a:t>
            </a:r>
            <a:endParaRPr lang="zh-CN" altLang="en-US" sz="1400" dirty="0"/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3FAD0515-C50A-DED2-73E3-B66D3EEB8942}"/>
              </a:ext>
            </a:extLst>
          </p:cNvPr>
          <p:cNvCxnSpPr>
            <a:stCxn id="11" idx="2"/>
            <a:endCxn id="8" idx="0"/>
          </p:cNvCxnSpPr>
          <p:nvPr/>
        </p:nvCxnSpPr>
        <p:spPr>
          <a:xfrm rot="5400000">
            <a:off x="4153038" y="290009"/>
            <a:ext cx="588636" cy="1896395"/>
          </a:xfrm>
          <a:prstGeom prst="bentConnector3">
            <a:avLst>
              <a:gd name="adj1" fmla="val 4270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DAE277CF-8ECB-B061-04A7-A3DD6B213915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 rot="16200000" flipH="1">
            <a:off x="6056505" y="282936"/>
            <a:ext cx="588635" cy="1910538"/>
          </a:xfrm>
          <a:prstGeom prst="bentConnector3">
            <a:avLst>
              <a:gd name="adj1" fmla="val 41658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1820D710-E3C8-FECD-2BAD-695F49BA0F58}"/>
              </a:ext>
            </a:extLst>
          </p:cNvPr>
          <p:cNvSpPr txBox="1"/>
          <p:nvPr/>
        </p:nvSpPr>
        <p:spPr>
          <a:xfrm>
            <a:off x="3228864" y="2486854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核心任务</a:t>
            </a:r>
            <a:r>
              <a:rPr lang="en-US" altLang="zh-CN" sz="1200" b="1" dirty="0"/>
              <a:t>Agent</a:t>
            </a:r>
            <a:endParaRPr lang="zh-CN" altLang="en-US" sz="1200" b="1" dirty="0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AC06432-8E53-5D87-84C1-F67B042997A8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5395553" y="2013040"/>
            <a:ext cx="0" cy="33399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958A20D7-FE9F-D3A4-B444-FC4E0A5AAE53}"/>
              </a:ext>
            </a:extLst>
          </p:cNvPr>
          <p:cNvSpPr txBox="1"/>
          <p:nvPr/>
        </p:nvSpPr>
        <p:spPr>
          <a:xfrm>
            <a:off x="6849555" y="2457019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派生任务</a:t>
            </a:r>
            <a:r>
              <a:rPr lang="en-US" altLang="zh-CN" sz="1200" b="1" dirty="0"/>
              <a:t>Agent</a:t>
            </a:r>
            <a:endParaRPr lang="zh-CN" altLang="en-US" sz="1200" b="1" dirty="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6CCAED6-66F4-4DCD-7229-09668121929F}"/>
              </a:ext>
            </a:extLst>
          </p:cNvPr>
          <p:cNvCxnSpPr>
            <a:cxnSpLocks/>
          </p:cNvCxnSpPr>
          <p:nvPr/>
        </p:nvCxnSpPr>
        <p:spPr>
          <a:xfrm>
            <a:off x="5451297" y="3928061"/>
            <a:ext cx="0" cy="33399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814BC294-BDD8-BA0F-0295-F7603361D312}"/>
              </a:ext>
            </a:extLst>
          </p:cNvPr>
          <p:cNvCxnSpPr>
            <a:cxnSpLocks/>
          </p:cNvCxnSpPr>
          <p:nvPr/>
        </p:nvCxnSpPr>
        <p:spPr>
          <a:xfrm>
            <a:off x="5436319" y="4669932"/>
            <a:ext cx="0" cy="33399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3F77227-D2B6-BC08-ABAC-6EF856CC0CDF}"/>
              </a:ext>
            </a:extLst>
          </p:cNvPr>
          <p:cNvCxnSpPr>
            <a:cxnSpLocks/>
          </p:cNvCxnSpPr>
          <p:nvPr/>
        </p:nvCxnSpPr>
        <p:spPr>
          <a:xfrm>
            <a:off x="5413208" y="5595248"/>
            <a:ext cx="0" cy="33399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B27C734B-7AA1-4103-FD4C-399A53B964C6}"/>
              </a:ext>
            </a:extLst>
          </p:cNvPr>
          <p:cNvSpPr txBox="1"/>
          <p:nvPr/>
        </p:nvSpPr>
        <p:spPr>
          <a:xfrm>
            <a:off x="9069359" y="1402317"/>
            <a:ext cx="2390398" cy="64633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多模态感知输入</a:t>
            </a:r>
            <a:r>
              <a:rPr lang="en-US" altLang="zh-CN" sz="1200" dirty="0"/>
              <a:t>(</a:t>
            </a:r>
            <a:r>
              <a:rPr lang="zh-CN" altLang="en-US" sz="1200" dirty="0"/>
              <a:t>文本</a:t>
            </a:r>
            <a:r>
              <a:rPr lang="en-US" altLang="zh-CN" sz="1200" dirty="0"/>
              <a:t>/</a:t>
            </a:r>
            <a:r>
              <a:rPr lang="zh-CN" altLang="en-US" sz="1200" dirty="0"/>
              <a:t>图片</a:t>
            </a:r>
            <a:r>
              <a:rPr lang="en-US" altLang="zh-CN" sz="1200" dirty="0"/>
              <a:t>/</a:t>
            </a:r>
            <a:r>
              <a:rPr lang="zh-CN" altLang="en-US" sz="1200" dirty="0"/>
              <a:t>文档</a:t>
            </a:r>
            <a:r>
              <a:rPr lang="en-US" altLang="zh-CN" sz="1200" dirty="0"/>
              <a:t>)</a:t>
            </a:r>
          </a:p>
          <a:p>
            <a:r>
              <a:rPr lang="zh-CN" altLang="en-US" sz="1200" dirty="0"/>
              <a:t>建模个人</a:t>
            </a:r>
            <a:r>
              <a:rPr lang="en-US" altLang="zh-CN" sz="1200" dirty="0"/>
              <a:t>/</a:t>
            </a:r>
            <a:r>
              <a:rPr lang="zh-CN" altLang="en-US" sz="1200" dirty="0"/>
              <a:t>职业视角</a:t>
            </a:r>
            <a:endParaRPr lang="en-US" altLang="zh-CN" sz="1200" dirty="0"/>
          </a:p>
          <a:p>
            <a:r>
              <a:rPr lang="zh-CN" altLang="en-US" sz="1200" dirty="0"/>
              <a:t>会议信息层级解析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614A2C4-5292-86CE-A48F-C9223EC34075}"/>
              </a:ext>
            </a:extLst>
          </p:cNvPr>
          <p:cNvSpPr txBox="1"/>
          <p:nvPr/>
        </p:nvSpPr>
        <p:spPr>
          <a:xfrm>
            <a:off x="9175069" y="2902463"/>
            <a:ext cx="2284688" cy="64633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基于感知理解层的事实底座</a:t>
            </a:r>
            <a:endParaRPr lang="en-US" altLang="zh-CN" sz="1200" dirty="0"/>
          </a:p>
          <a:p>
            <a:r>
              <a:rPr lang="zh-CN" altLang="en-US" sz="1200" dirty="0"/>
              <a:t>任务</a:t>
            </a:r>
            <a:r>
              <a:rPr lang="en-US" altLang="zh-CN" sz="1200" dirty="0"/>
              <a:t>Agent</a:t>
            </a:r>
            <a:r>
              <a:rPr lang="zh-CN" altLang="en-US" sz="1200" dirty="0"/>
              <a:t>结合任务需求执行</a:t>
            </a:r>
            <a:endParaRPr lang="en-US" altLang="zh-CN" sz="1200" dirty="0"/>
          </a:p>
          <a:p>
            <a:r>
              <a:rPr lang="zh-CN" altLang="en-US" sz="1200" dirty="0"/>
              <a:t>可基于同一会议并行执行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84128FF-21BF-D250-0460-11A895FA14E6}"/>
              </a:ext>
            </a:extLst>
          </p:cNvPr>
          <p:cNvSpPr txBox="1"/>
          <p:nvPr/>
        </p:nvSpPr>
        <p:spPr>
          <a:xfrm>
            <a:off x="7622318" y="4151184"/>
            <a:ext cx="2894082" cy="64633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事实一致性检验：对齐原始转写</a:t>
            </a:r>
            <a:endParaRPr lang="en-US" altLang="zh-CN" sz="1200" dirty="0"/>
          </a:p>
          <a:p>
            <a:r>
              <a:rPr lang="zh-CN" altLang="en-US" sz="1200" dirty="0"/>
              <a:t>完整度审查：对照议程校验遗漏事项</a:t>
            </a:r>
            <a:endParaRPr lang="en-US" altLang="zh-CN" sz="1200" dirty="0"/>
          </a:p>
          <a:p>
            <a:r>
              <a:rPr lang="zh-CN" altLang="en-US" sz="1200" dirty="0"/>
              <a:t>幻觉纠正：消除前后矛盾论断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F3EA8BA-8004-A9D9-1522-BE58F1952B30}"/>
              </a:ext>
            </a:extLst>
          </p:cNvPr>
          <p:cNvSpPr txBox="1"/>
          <p:nvPr/>
        </p:nvSpPr>
        <p:spPr>
          <a:xfrm>
            <a:off x="8302363" y="5146061"/>
            <a:ext cx="1533991" cy="46166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多端自适应渲染</a:t>
            </a:r>
            <a:endParaRPr lang="en-US" altLang="zh-CN" sz="1200" dirty="0"/>
          </a:p>
          <a:p>
            <a:r>
              <a:rPr lang="zh-CN" altLang="en-US" sz="1200" dirty="0"/>
              <a:t>结构化文本生成</a:t>
            </a:r>
          </a:p>
        </p:txBody>
      </p:sp>
    </p:spTree>
    <p:extLst>
      <p:ext uri="{BB962C8B-B14F-4D97-AF65-F5344CB8AC3E}">
        <p14:creationId xmlns:p14="http://schemas.microsoft.com/office/powerpoint/2010/main" val="1709010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2">
            <a:extLst>
              <a:ext uri="{FF2B5EF4-FFF2-40B4-BE49-F238E27FC236}">
                <a16:creationId xmlns:a16="http://schemas.microsoft.com/office/drawing/2014/main" id="{C472DE0D-B209-4C8F-8BAC-4B999C3D7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835" y="176639"/>
            <a:ext cx="1182186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524">
              <a:spcAft>
                <a:spcPct val="15000"/>
              </a:spcAft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小艺慧记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云侧基于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系统，打造多任务、多模态、多语种、后修正能力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BBBB5E45-C6B8-4320-9E35-2A3DD989E5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20312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8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B4EE5AC-2757-44C3-B622-EC7B32233836}"/>
              </a:ext>
            </a:extLst>
          </p:cNvPr>
          <p:cNvSpPr/>
          <p:nvPr/>
        </p:nvSpPr>
        <p:spPr>
          <a:xfrm>
            <a:off x="212030" y="926354"/>
            <a:ext cx="11776329" cy="2784357"/>
          </a:xfrm>
          <a:prstGeom prst="roundRect">
            <a:avLst>
              <a:gd name="adj" fmla="val 452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Text Box 2">
            <a:extLst>
              <a:ext uri="{FF2B5EF4-FFF2-40B4-BE49-F238E27FC236}">
                <a16:creationId xmlns:a16="http://schemas.microsoft.com/office/drawing/2014/main" id="{FE8DB6E6-4C9F-4FC5-A27A-53DAFEA6C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749" y="803243"/>
            <a:ext cx="1962499" cy="246221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defTabSz="806847">
              <a:spcAft>
                <a:spcPct val="1500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云侧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A86695E-E535-4625-9553-93DAE7FA9566}"/>
              </a:ext>
            </a:extLst>
          </p:cNvPr>
          <p:cNvSpPr/>
          <p:nvPr/>
        </p:nvSpPr>
        <p:spPr>
          <a:xfrm>
            <a:off x="6096000" y="4022305"/>
            <a:ext cx="5892360" cy="2682180"/>
          </a:xfrm>
          <a:prstGeom prst="roundRect">
            <a:avLst>
              <a:gd name="adj" fmla="val 452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3DBEABF-CA54-4B4E-B802-1DCA4D978503}"/>
              </a:ext>
            </a:extLst>
          </p:cNvPr>
          <p:cNvSpPr/>
          <p:nvPr/>
        </p:nvSpPr>
        <p:spPr>
          <a:xfrm>
            <a:off x="203642" y="4028321"/>
            <a:ext cx="5811210" cy="2682180"/>
          </a:xfrm>
          <a:prstGeom prst="roundRect">
            <a:avLst>
              <a:gd name="adj" fmla="val 4525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 Box 2">
            <a:extLst>
              <a:ext uri="{FF2B5EF4-FFF2-40B4-BE49-F238E27FC236}">
                <a16:creationId xmlns:a16="http://schemas.microsoft.com/office/drawing/2014/main" id="{F0B088A7-CA82-483C-BD18-A2CE0A327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264" y="3914908"/>
            <a:ext cx="1535966" cy="246221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defTabSz="806847">
              <a:spcAft>
                <a:spcPct val="1500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正在进行的工作</a:t>
            </a:r>
          </a:p>
        </p:txBody>
      </p:sp>
      <p:sp>
        <p:nvSpPr>
          <p:cNvPr id="29" name="Text Box 2">
            <a:extLst>
              <a:ext uri="{FF2B5EF4-FFF2-40B4-BE49-F238E27FC236}">
                <a16:creationId xmlns:a16="http://schemas.microsoft.com/office/drawing/2014/main" id="{33984596-5C3B-469C-B5D4-46AB98BDB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4305" y="3903815"/>
            <a:ext cx="1443636" cy="246221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defTabSz="806847">
              <a:spcAft>
                <a:spcPct val="15000"/>
              </a:spcAft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后续重点问题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AE675F0-2141-491D-B86F-4C8545A243D8}"/>
              </a:ext>
            </a:extLst>
          </p:cNvPr>
          <p:cNvSpPr/>
          <p:nvPr/>
        </p:nvSpPr>
        <p:spPr>
          <a:xfrm>
            <a:off x="3268135" y="2108666"/>
            <a:ext cx="5195612" cy="369332"/>
          </a:xfrm>
          <a:prstGeom prst="round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听记统一控件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8F597AE-F44D-4D5E-BD5C-2F017DD00BC7}"/>
              </a:ext>
            </a:extLst>
          </p:cNvPr>
          <p:cNvSpPr/>
          <p:nvPr/>
        </p:nvSpPr>
        <p:spPr>
          <a:xfrm>
            <a:off x="633483" y="1190735"/>
            <a:ext cx="1094377" cy="386994"/>
          </a:xfrm>
          <a:prstGeom prst="round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语音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DD50BCC6-D624-4AD5-A8FC-F366548EC91D}"/>
              </a:ext>
            </a:extLst>
          </p:cNvPr>
          <p:cNvSpPr/>
          <p:nvPr/>
        </p:nvSpPr>
        <p:spPr>
          <a:xfrm>
            <a:off x="633482" y="1658041"/>
            <a:ext cx="1094377" cy="386994"/>
          </a:xfrm>
          <a:prstGeom prst="round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F990E0D-BBDB-4105-B9BD-320750AA8090}"/>
              </a:ext>
            </a:extLst>
          </p:cNvPr>
          <p:cNvSpPr/>
          <p:nvPr/>
        </p:nvSpPr>
        <p:spPr>
          <a:xfrm>
            <a:off x="633482" y="2125347"/>
            <a:ext cx="1094377" cy="386994"/>
          </a:xfrm>
          <a:prstGeom prst="round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099ED90-D56A-461D-B306-61AA590E7413}"/>
              </a:ext>
            </a:extLst>
          </p:cNvPr>
          <p:cNvSpPr/>
          <p:nvPr/>
        </p:nvSpPr>
        <p:spPr>
          <a:xfrm>
            <a:off x="633482" y="2583225"/>
            <a:ext cx="1094377" cy="386994"/>
          </a:xfrm>
          <a:prstGeom prst="round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4887F3AC-265A-453C-8C26-5A805CA52CE7}"/>
              </a:ext>
            </a:extLst>
          </p:cNvPr>
          <p:cNvSpPr/>
          <p:nvPr/>
        </p:nvSpPr>
        <p:spPr>
          <a:xfrm>
            <a:off x="633482" y="3042006"/>
            <a:ext cx="1094377" cy="386994"/>
          </a:xfrm>
          <a:prstGeom prst="round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022080-3A79-8F52-F0FA-9B498DEA92E4}"/>
              </a:ext>
            </a:extLst>
          </p:cNvPr>
          <p:cNvSpPr txBox="1"/>
          <p:nvPr/>
        </p:nvSpPr>
        <p:spPr>
          <a:xfrm>
            <a:off x="2451728" y="1008988"/>
            <a:ext cx="10414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i="0" dirty="0">
                <a:solidFill>
                  <a:srgbClr val="C00000"/>
                </a:solidFill>
                <a:effectLst/>
                <a:latin typeface="quote-cjk-patch"/>
              </a:rPr>
              <a:t>以多 </a:t>
            </a:r>
            <a:r>
              <a:rPr lang="en-US" altLang="zh-CN" sz="1400" b="1" i="0" dirty="0">
                <a:solidFill>
                  <a:srgbClr val="C00000"/>
                </a:solidFill>
                <a:effectLst/>
                <a:latin typeface="quote-cjk-patch"/>
              </a:rPr>
              <a:t>Agent </a:t>
            </a:r>
            <a:r>
              <a:rPr lang="zh-CN" altLang="en-US" sz="1400" b="1" i="0" dirty="0">
                <a:solidFill>
                  <a:srgbClr val="C00000"/>
                </a:solidFill>
                <a:effectLst/>
                <a:latin typeface="quote-cjk-patch"/>
              </a:rPr>
              <a:t>协作框架为底座，提升已有能力，扩展新能力，输出慧记能力赋能其他团队。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2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221</Words>
  <Application>Microsoft Office PowerPoint</Application>
  <PresentationFormat>宽屏</PresentationFormat>
  <Paragraphs>43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quote-cjk-patch</vt:lpstr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Xuyue</dc:creator>
  <cp:lastModifiedBy>houyefei</cp:lastModifiedBy>
  <cp:revision>84</cp:revision>
  <dcterms:created xsi:type="dcterms:W3CDTF">2026-09-19T13:37:00Z</dcterms:created>
  <dcterms:modified xsi:type="dcterms:W3CDTF">2026-10-10T04:51:03Z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1791607123</vt:lpwstr>
  </property>
</Properties>
</file>